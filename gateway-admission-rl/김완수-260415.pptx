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23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8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  <a:ea typeface="Malgun Gothic"/>
              </a:rPr>
              <a:t>Q-Learning 기반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  <a:ea typeface="Malgun Gothic"/>
              </a:rPr>
              <a:t>SDN 라우팅 최적화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B4D2FF"/>
                </a:solidFill>
                <a:latin typeface="Calibri"/>
                <a:ea typeface="Malgun Gothic"/>
              </a:rPr>
              <a:t>A Q-Learning based Routing Optimization Model in a Software Defined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931920"/>
            <a:ext cx="487375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600" b="0" i="0" dirty="0" err="1">
                <a:solidFill>
                  <a:srgbClr val="C8DCF0"/>
                </a:solidFill>
                <a:latin typeface="Calibri"/>
                <a:ea typeface="Malgun Gothic"/>
              </a:rPr>
              <a:t>Yupeng</a:t>
            </a:r>
            <a:r>
              <a:rPr sz="1600" b="0" i="0" dirty="0">
                <a:solidFill>
                  <a:srgbClr val="C8DCF0"/>
                </a:solidFill>
                <a:latin typeface="Calibri"/>
                <a:ea typeface="Malgun Gothic"/>
              </a:rPr>
              <a:t> Wang, Xin Zhou, </a:t>
            </a:r>
            <a:r>
              <a:rPr sz="1600" b="0" i="0" dirty="0" err="1">
                <a:solidFill>
                  <a:srgbClr val="C8DCF0"/>
                </a:solidFill>
                <a:latin typeface="Calibri"/>
                <a:ea typeface="Malgun Gothic"/>
              </a:rPr>
              <a:t>Xinyue</a:t>
            </a:r>
            <a:r>
              <a:rPr sz="1600" b="0" i="0" dirty="0">
                <a:solidFill>
                  <a:srgbClr val="C8DCF0"/>
                </a:solidFill>
                <a:latin typeface="Calibri"/>
                <a:ea typeface="Malgun Gothic"/>
              </a:rPr>
              <a:t> Fan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 i="0" dirty="0">
                <a:solidFill>
                  <a:srgbClr val="C8DCF0"/>
                </a:solidFill>
                <a:latin typeface="Calibri"/>
                <a:ea typeface="Malgun Gothic"/>
              </a:rPr>
              <a:t>Shenyang Aerospace University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 i="0" dirty="0">
                <a:solidFill>
                  <a:srgbClr val="787878"/>
                </a:solidFill>
                <a:latin typeface="Calibri"/>
                <a:ea typeface="Malgun Gothic"/>
              </a:rPr>
              <a:t>IEEE 19th Int'l Conference on Embedded and Ubiquitous Computing (EUC), 2021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EDA7C2-F816-476B-8FE1-74D285713642}"/>
              </a:ext>
            </a:extLst>
          </p:cNvPr>
          <p:cNvSpPr txBox="1"/>
          <p:nvPr/>
        </p:nvSpPr>
        <p:spPr>
          <a:xfrm>
            <a:off x="8821272" y="5403924"/>
            <a:ext cx="3460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김완수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2025254011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충북대학교 산업인공지능 학과</a:t>
            </a:r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논문 정보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82880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제목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234440"/>
            <a:ext cx="9144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51760" y="1307592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A Q-Learning based Routing Optimization Model
in a Software Defined Network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182880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저자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2286000"/>
            <a:ext cx="9144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2359152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Yupeng Wang, Xin Zhou, Xinyue Fan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37560"/>
            <a:ext cx="182880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소속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3337560"/>
            <a:ext cx="9144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51760" y="3410712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Shenyang Aerospace University /
Liaoning General Aviation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182880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학술대회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4389120"/>
            <a:ext cx="9144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51760" y="4462272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IEEE 19th Int'l Conference on Embedded
and Ubiquitous Computing (EUC)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40679"/>
            <a:ext cx="182880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44067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발표년도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5440679"/>
            <a:ext cx="9144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51760" y="5513831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2021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  <a:ea typeface="Malgun Gothic"/>
              </a:rPr>
              <a:t>논문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2103120"/>
          </a:xfrm>
          <a:prstGeom prst="rect">
            <a:avLst/>
          </a:prstGeom>
          <a:solidFill>
            <a:srgbClr val="EBF2FF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969B0"/>
                </a:solidFill>
                <a:latin typeface="Calibri"/>
                <a:ea typeface="Malgun Gothic"/>
              </a:rPr>
              <a:t>[연구 목적]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SDN(Software Defined Network)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환경에서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사용자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QoS를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보장하는</a:t>
            </a:r>
            <a:endParaRPr sz="1500" b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300"/>
              </a:spcAft>
            </a:pP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지능형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라우팅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최적화를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위해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, Q-Learning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기반의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라우팅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알고리즘을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제안한다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.</a:t>
            </a:r>
          </a:p>
          <a:p>
            <a:pPr>
              <a:spcAft>
                <a:spcPts val="300"/>
              </a:spcAft>
            </a:pPr>
            <a:endParaRPr sz="1500" b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300"/>
              </a:spcAft>
            </a:pP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라우터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간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비균일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대역폭과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이질적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QoS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패킷을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동시에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고려하는</a:t>
            </a:r>
            <a:endParaRPr sz="1500" b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300"/>
              </a:spcAft>
            </a:pP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새로운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보상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함수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(Reward Function)를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설계하여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전송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지연을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500" b="0" dirty="0" err="1">
                <a:solidFill>
                  <a:srgbClr val="3C3C3C"/>
                </a:solidFill>
                <a:latin typeface="Calibri"/>
                <a:ea typeface="Malgun Gothic"/>
              </a:rPr>
              <a:t>최소화한다</a:t>
            </a:r>
            <a:r>
              <a:rPr sz="1500" b="0" dirty="0">
                <a:solidFill>
                  <a:srgbClr val="3C3C3C"/>
                </a:solidFill>
                <a:latin typeface="Calibri"/>
                <a:ea typeface="Malgun Gothic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5486400" cy="3017520"/>
          </a:xfrm>
          <a:prstGeom prst="rect">
            <a:avLst/>
          </a:prstGeom>
          <a:solidFill>
            <a:srgbClr val="F5F7FA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52852"/>
                </a:solidFill>
                <a:latin typeface="Calibri"/>
                <a:ea typeface="Malgun Gothic"/>
              </a:rPr>
              <a:t>[접근 방법]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1. SDN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Controller를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Q-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Learning의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Agent로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활용</a:t>
            </a:r>
            <a:endParaRPr sz="1400" b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2.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네트워크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상태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(State)에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따라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다음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홉(Action)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결정</a:t>
            </a:r>
            <a:endParaRPr sz="1400" b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3.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대역폭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+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지연을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동시에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고려한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보상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함수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설계</a:t>
            </a:r>
            <a:endParaRPr sz="1400" b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4. epsilon-greedy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전략으로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탐험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/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활용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균형</a:t>
            </a:r>
            <a:endParaRPr sz="1400" b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5. Q-Table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수렴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-&gt;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최적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라우팅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테이블</a:t>
            </a:r>
            <a:r>
              <a:rPr sz="1400" b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dirty="0" err="1">
                <a:solidFill>
                  <a:srgbClr val="3C3C3C"/>
                </a:solidFill>
                <a:latin typeface="Calibri"/>
                <a:ea typeface="Malgun Gothic"/>
              </a:rPr>
              <a:t>도출</a:t>
            </a:r>
            <a:endParaRPr sz="1400" b="0" dirty="0">
              <a:solidFill>
                <a:srgbClr val="3C3C3C"/>
              </a:solidFill>
              <a:latin typeface="Calibri"/>
              <a:ea typeface="Malgun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7920" y="3474720"/>
            <a:ext cx="5486400" cy="3017520"/>
          </a:xfrm>
          <a:prstGeom prst="rect">
            <a:avLst/>
          </a:prstGeom>
          <a:solidFill>
            <a:srgbClr val="E8F8EB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3520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4A853"/>
                </a:solidFill>
                <a:latin typeface="Calibri"/>
                <a:ea typeface="Malgun Gothic"/>
              </a:rPr>
              <a:t>[주요 결과]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233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>- 기존 최단경로 알고리즘 대비: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34A853"/>
                </a:solidFill>
                <a:latin typeface="Calibri"/>
                <a:ea typeface="Malgun Gothic"/>
              </a:rPr>
              <a:t>    평균 전송 지연 43.38% 감소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34A853"/>
                </a:solidFill>
                <a:latin typeface="Calibri"/>
                <a:ea typeface="Malgun Gothic"/>
              </a:rPr>
              <a:t>    최대 전송 지연 69.57% 감소</a:t>
            </a:r>
          </a:p>
          <a:p>
            <a:pPr>
              <a:spcAft>
                <a:spcPts val="300"/>
              </a:spcAft>
            </a:pPr>
            <a:endParaRPr sz="1400" b="1">
              <a:solidFill>
                <a:srgbClr val="34A853"/>
              </a:solidFill>
              <a:latin typeface="Calibri"/>
              <a:ea typeface="Malgun Gothic"/>
            </a:endParaRP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>- 30% 이하 대역폭 변동에도 안정적 성능 유지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>- 복잡한 네트워크 환경에 대응 가능</a:t>
            </a:r>
          </a:p>
        </p:txBody>
      </p:sp>
      <p:sp>
        <p:nvSpPr>
          <p:cNvPr id="50" name="Badge1"/>
          <p:cNvSpPr/>
          <p:nvPr/>
        </p:nvSpPr>
        <p:spPr>
          <a:xfrm>
            <a:off x="7421440" y="1691640"/>
            <a:ext cx="4100000" cy="380000"/>
          </a:xfrm>
          <a:prstGeom prst="roundRect">
            <a:avLst>
              <a:gd name="adj" fmla="val 20000"/>
            </a:avLst>
          </a:prstGeom>
          <a:solidFill>
            <a:srgbClr val="152852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sz="1050" b="1" dirty="0">
                <a:solidFill>
                  <a:srgbClr val="FFFFFF"/>
                </a:solidFill>
                <a:latin typeface="Calibri"/>
                <a:ea typeface="Malgun Gothic"/>
              </a:rPr>
              <a:t>[문제]  비균일 대역폭 + QoS 패킷 → 지연 증가</a:t>
            </a:r>
          </a:p>
        </p:txBody>
      </p:sp>
      <p:sp>
        <p:nvSpPr>
          <p:cNvPr id="51" name="Badge2"/>
          <p:cNvSpPr/>
          <p:nvPr/>
        </p:nvSpPr>
        <p:spPr>
          <a:xfrm>
            <a:off x="7421440" y="2121640"/>
            <a:ext cx="4100000" cy="380000"/>
          </a:xfrm>
          <a:prstGeom prst="roundRect">
            <a:avLst>
              <a:gd name="adj" fmla="val 20000"/>
            </a:avLst>
          </a:prstGeom>
          <a:solidFill>
            <a:srgbClr val="2969B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sz="1050" b="1" dirty="0">
                <a:solidFill>
                  <a:srgbClr val="FFFFFF"/>
                </a:solidFill>
                <a:latin typeface="Calibri"/>
                <a:ea typeface="Malgun Gothic"/>
              </a:rPr>
              <a:t>[해결]  Q-Learning 기반 지능형 라우팅 (새 보상 함수)</a:t>
            </a:r>
          </a:p>
        </p:txBody>
      </p:sp>
      <p:sp>
        <p:nvSpPr>
          <p:cNvPr id="52" name="Badge3"/>
          <p:cNvSpPr/>
          <p:nvPr/>
        </p:nvSpPr>
        <p:spPr>
          <a:xfrm>
            <a:off x="7421440" y="2551640"/>
            <a:ext cx="4100000" cy="380000"/>
          </a:xfrm>
          <a:prstGeom prst="roundRect">
            <a:avLst>
              <a:gd name="adj" fmla="val 20000"/>
            </a:avLst>
          </a:prstGeom>
          <a:solidFill>
            <a:srgbClr val="217A4C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sz="1050" b="1" dirty="0">
                <a:solidFill>
                  <a:srgbClr val="FFFFFF"/>
                </a:solidFill>
                <a:latin typeface="Calibri"/>
                <a:ea typeface="Malgun Gothic"/>
              </a:rPr>
              <a:t>[결과]  평균 지연 43% ↓  최대 지연 70% 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핵심 문제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212080"/>
          </a:xfrm>
          <a:prstGeom prst="rect">
            <a:avLst/>
          </a:prstGeom>
          <a:solidFill>
            <a:srgbClr val="EBF2FF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969B0"/>
                </a:solidFill>
                <a:latin typeface="Calibri"/>
                <a:ea typeface="Malgun Gothic"/>
              </a:rPr>
              <a:t>[기존 네트워크의 한계]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1.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제어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평면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+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포워딩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평면이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하드웨어에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통합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  -&gt;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네트워크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혁신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및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업데이트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어려움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2.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중앙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집중식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QoS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배포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전략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구현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곤란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3.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기존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최단경로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(Shortest Path)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알고리즘은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 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대역폭과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지연을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동시에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고려하지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못함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4.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휴리스틱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알고리즘은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계산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복잡도가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높고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 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많은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저장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공간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필요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00" cy="5212080"/>
          </a:xfrm>
          <a:prstGeom prst="rect">
            <a:avLst/>
          </a:prstGeom>
          <a:solidFill>
            <a:srgbClr val="E8F8EB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34A853"/>
                </a:solidFill>
                <a:latin typeface="Calibri"/>
                <a:ea typeface="Malgun Gothic"/>
              </a:rPr>
              <a:t>[본 논문이 해결하고자 하는 문제]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5029200" cy="2641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SDN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환경</a:t>
            </a:r>
            <a:r>
              <a:rPr lang="ko-KR" altLang="en-US" sz="1400" b="0" i="0" dirty="0">
                <a:solidFill>
                  <a:srgbClr val="3C3C3C"/>
                </a:solidFill>
                <a:latin typeface="Calibri"/>
                <a:ea typeface="Malgun Gothic"/>
              </a:rPr>
              <a:t>에서</a:t>
            </a:r>
            <a:r>
              <a:rPr lang="en-US" altLang="ko-KR"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lang="ko-KR" altLang="en-US" sz="1400" b="0" i="0" dirty="0">
                <a:solidFill>
                  <a:srgbClr val="3C3C3C"/>
                </a:solidFill>
                <a:latin typeface="Calibri"/>
                <a:ea typeface="Malgun Gothic"/>
              </a:rPr>
              <a:t>라우터 간 </a:t>
            </a:r>
            <a:r>
              <a:rPr lang="ko-KR" altLang="en-US"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비균일</a:t>
            </a:r>
            <a:r>
              <a:rPr lang="en-US" altLang="ko-KR" sz="1400" b="0" i="0" dirty="0">
                <a:solidFill>
                  <a:srgbClr val="3C3C3C"/>
                </a:solidFill>
                <a:latin typeface="Calibri"/>
                <a:ea typeface="Malgun Gothic"/>
              </a:rPr>
              <a:t>(non-identical) </a:t>
            </a:r>
            <a:r>
              <a:rPr lang="ko-KR" altLang="en-US" sz="1400" b="0" i="0" dirty="0">
                <a:solidFill>
                  <a:srgbClr val="3C3C3C"/>
                </a:solidFill>
                <a:latin typeface="Calibri"/>
                <a:ea typeface="Malgun Gothic"/>
              </a:rPr>
              <a:t>대역폭과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이질적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(heterogeneous) QoS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패킷</a:t>
            </a:r>
            <a:r>
              <a:rPr lang="ko-KR" altLang="en-US" sz="1400" b="0" i="0" dirty="0">
                <a:solidFill>
                  <a:srgbClr val="3C3C3C"/>
                </a:solidFill>
                <a:latin typeface="Calibri"/>
                <a:ea typeface="Malgun Gothic"/>
              </a:rPr>
              <a:t>을 고려하여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전송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지연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(Delay)을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최소화하면서</a:t>
            </a:r>
            <a:r>
              <a:rPr lang="en-US" sz="140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사용자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QoS를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보장하는</a:t>
            </a:r>
            <a:r>
              <a:rPr lang="en-US" sz="140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지능형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라우팅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최적화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알고리즘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개발</a:t>
            </a:r>
            <a:endParaRPr lang="en-US"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lang="en-US" sz="140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-&gt; Q-Learning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기반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접근</a:t>
            </a:r>
            <a:endParaRPr lang="en-US"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lang="en-US" sz="140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핵심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기여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: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새로운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보상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함수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(Reward Function)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제안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제안된 해결 방법: SDN + Q-Learning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676" y="1234440"/>
            <a:ext cx="3200400" cy="164592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3836" y="12801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CC00"/>
                </a:solidFill>
                <a:latin typeface="Calibri"/>
                <a:ea typeface="Malgun Gothic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FFFFFF"/>
                </a:solidFill>
                <a:latin typeface="Calibri"/>
                <a:ea typeface="Malgun Gothic"/>
              </a:rPr>
              <a:t>SDN Controller (Agent)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" y="2971800"/>
            <a:ext cx="3200400" cy="1188720"/>
          </a:xfrm>
          <a:prstGeom prst="rect">
            <a:avLst/>
          </a:prstGeom>
          <a:solidFill>
            <a:srgbClr val="F5F7FA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3836" y="3319939"/>
            <a:ext cx="29260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네트워크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전체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정보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수집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
(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토폴로지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,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대역폭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,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트래픽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82796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234440"/>
            <a:ext cx="3200400" cy="164592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1436" y="12801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CC00"/>
                </a:solidFill>
                <a:latin typeface="Calibri"/>
                <a:ea typeface="Malgun Gothic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1436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FFFFFF"/>
                </a:solidFill>
                <a:latin typeface="Calibri"/>
                <a:ea typeface="Malgun Gothic"/>
              </a:rPr>
              <a:t>Q-Learning </a:t>
            </a:r>
            <a:r>
              <a:rPr sz="1600" b="1" i="0" dirty="0" err="1">
                <a:solidFill>
                  <a:srgbClr val="FFFFFF"/>
                </a:solidFill>
                <a:latin typeface="Calibri"/>
                <a:ea typeface="Malgun Gothic"/>
              </a:rPr>
              <a:t>알고리즘</a:t>
            </a:r>
            <a:endParaRPr sz="1600" b="1" i="0" dirty="0">
              <a:solidFill>
                <a:srgbClr val="FFFFFF"/>
              </a:solidFill>
              <a:latin typeface="Calibri"/>
              <a:ea typeface="Malgun Gothic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94276" y="2971800"/>
            <a:ext cx="3200400" cy="1188720"/>
          </a:xfrm>
          <a:prstGeom prst="rect">
            <a:avLst/>
          </a:prstGeom>
          <a:solidFill>
            <a:srgbClr val="F5F7FA"/>
          </a:solidFill>
          <a:ln w="25400">
            <a:solidFill>
              <a:srgbClr val="152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1436" y="3319939"/>
            <a:ext cx="29260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상태에 따른 최적 라우팅
행동 결정 (ε-greedy)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0396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1875" y="1234440"/>
            <a:ext cx="3200400" cy="16459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9036" y="12801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CC00"/>
                </a:solidFill>
                <a:latin typeface="Calibri"/>
                <a:ea typeface="Malgun Gothic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9036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algun Gothic"/>
              </a:rPr>
              <a:t>Q-Table 수렴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1875" y="2971800"/>
            <a:ext cx="3200400" cy="1188720"/>
          </a:xfrm>
          <a:prstGeom prst="rect">
            <a:avLst/>
          </a:prstGeom>
          <a:solidFill>
            <a:srgbClr val="F5F7FA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9036" y="3319939"/>
            <a:ext cx="29260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최적 라우팅 테이블
생성 및 적용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11274552" cy="2011680"/>
          </a:xfrm>
          <a:prstGeom prst="rect">
            <a:avLst/>
          </a:prstGeom>
          <a:solidFill>
            <a:srgbClr val="FFFAE1"/>
          </a:solidFill>
          <a:ln w="19050">
            <a:solidFill>
              <a:srgbClr val="DC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52852"/>
                </a:solidFill>
                <a:latin typeface="Calibri"/>
                <a:ea typeface="Malgun Gothic"/>
              </a:rPr>
              <a:t>[핵심 아이디어]</a:t>
            </a:r>
          </a:p>
          <a:p>
            <a:pPr>
              <a:spcAft>
                <a:spcPts val="200"/>
              </a:spcAft>
            </a:pPr>
            <a:endParaRPr sz="1400" b="1" i="0">
              <a:solidFill>
                <a:srgbClr val="152852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SDN Controller가 Agent로서 네트워크 환경과 상호작용하며 Q-Learning으로 학습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대역폭(Bandwidth)과 전송 지연(Delay)을 동시에 고려한 최적 라우팅 정책(Q-Table) 도출</a:t>
            </a:r>
          </a:p>
          <a:p>
            <a:pPr>
              <a:spcAft>
                <a:spcPts val="200"/>
              </a:spcAft>
            </a:pPr>
            <a:endParaRPr sz="1400" b="0" i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Q-Table 수렴 후, 데이터 패킷은 Q-Table에 따라 포워딩 -&gt; 전송 지연 최소화 + QoS 보장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강화학습 모델 (1) : Agent &amp;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3200000"/>
          </a:xfrm>
          <a:prstGeom prst="rect">
            <a:avLst/>
          </a:prstGeom>
          <a:solidFill>
            <a:srgbClr val="EBF2FF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969B0"/>
                </a:solidFill>
                <a:latin typeface="Calibri"/>
                <a:ea typeface="Malgun Gothic"/>
              </a:rPr>
              <a:t>Agent (에이전트) = SDN 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88720"/>
            <a:ext cx="493776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[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역할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네트워크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전체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상태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(Global View)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지속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감지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Q-Learning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기반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라우팅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의사결정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수행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Flow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Table을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스위치에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배포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[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특징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분산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라우터가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아닌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중앙집중식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컨트롤러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환경과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반복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상호작용하며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Q-Table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학습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학습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완료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후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최적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정책으로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라우팅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수행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45352" y="1188720"/>
            <a:ext cx="5394960" cy="3200000"/>
          </a:xfrm>
          <a:prstGeom prst="rect">
            <a:avLst/>
          </a:prstGeom>
          <a:solidFill>
            <a:srgbClr val="E8F8EB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28232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34A853"/>
                </a:solidFill>
                <a:latin typeface="Calibri"/>
                <a:ea typeface="Malgun Gothic"/>
              </a:rPr>
              <a:t>State (상태)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1633369"/>
            <a:ext cx="493776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[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수식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]  s(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h,k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) =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i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,   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i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= [1, 10]</a:t>
            </a: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[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의미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현재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트래픽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k가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위치한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스위치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번호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i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홉(hop)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h에서의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네트워크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상태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[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포함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정보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네트워크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토폴로지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행렬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Y[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i,j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  (Y[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i,j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]=1: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연결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/  Y[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i,j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]!=1: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미연결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링크별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가용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대역폭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Ba (0~1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정규화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데이터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패킷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전송량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T</a:t>
            </a:r>
          </a:p>
        </p:txBody>
      </p:sp>
      <p:sp>
        <p:nvSpPr>
          <p:cNvPr id="30" name="SepLine"/>
          <p:cNvSpPr/>
          <p:nvPr/>
        </p:nvSpPr>
        <p:spPr>
          <a:xfrm>
            <a:off x="457200" y="4500000"/>
            <a:ext cx="1127455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RLLabel"/>
          <p:cNvSpPr txBox="1"/>
          <p:nvPr/>
        </p:nvSpPr>
        <p:spPr>
          <a:xfrm>
            <a:off x="457200" y="4550000"/>
            <a:ext cx="11274552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152852"/>
                </a:solidFill>
                <a:latin typeface="Calibri"/>
                <a:ea typeface="Malgun Gothic"/>
              </a:rPr>
              <a:t>[ 강화학습 상호작용 구조 ]</a:t>
            </a:r>
          </a:p>
        </p:txBody>
      </p:sp>
      <p:sp>
        <p:nvSpPr>
          <p:cNvPr id="32" name="AgentBox"/>
          <p:cNvSpPr/>
          <p:nvPr/>
        </p:nvSpPr>
        <p:spPr>
          <a:xfrm>
            <a:off x="457200" y="5200000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400" b="1" dirty="0">
                <a:solidFill>
                  <a:srgbClr val="FFFFFF"/>
                </a:solidFill>
                <a:latin typeface="Calibri"/>
                <a:ea typeface="Malgun Gothic"/>
              </a:rPr>
              <a:t>SDN Controller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FFFFFF"/>
                </a:solidFill>
                <a:latin typeface="Calibri"/>
                <a:ea typeface="Malgun Gothic"/>
              </a:rPr>
              <a:t>(Agent)</a:t>
            </a:r>
          </a:p>
        </p:txBody>
      </p:sp>
      <p:sp>
        <p:nvSpPr>
          <p:cNvPr id="33" name="EnvBox"/>
          <p:cNvSpPr/>
          <p:nvPr/>
        </p:nvSpPr>
        <p:spPr>
          <a:xfrm>
            <a:off x="8988552" y="5200000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1A6B3A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400" b="1" dirty="0">
                <a:solidFill>
                  <a:srgbClr val="FFFFFF"/>
                </a:solidFill>
                <a:latin typeface="Calibri"/>
                <a:ea typeface="Malgun Gothic"/>
              </a:rPr>
              <a:t>네트워크 환경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FFFFFF"/>
                </a:solidFill>
                <a:latin typeface="Calibri"/>
                <a:ea typeface="Malgun Gothic"/>
              </a:rPr>
              <a:t>(Switches)</a:t>
            </a:r>
          </a:p>
        </p:txBody>
      </p:sp>
      <p:sp>
        <p:nvSpPr>
          <p:cNvPr id="34" name="ActionArrow"/>
          <p:cNvSpPr/>
          <p:nvPr/>
        </p:nvSpPr>
        <p:spPr>
          <a:xfrm>
            <a:off x="3400000" y="5210307"/>
            <a:ext cx="5400000" cy="4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969B0"/>
          </a:solidFill>
          <a:ln>
            <a:noFill/>
          </a:ln>
        </p:spPr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FFFFFF"/>
                </a:solidFill>
                <a:latin typeface="Calibri"/>
                <a:ea typeface="Malgun Gothic"/>
              </a:rPr>
              <a:t>Action : 다음 홉(스위치) 선택</a:t>
            </a:r>
          </a:p>
        </p:txBody>
      </p:sp>
      <p:sp>
        <p:nvSpPr>
          <p:cNvPr id="35" name="RewardArrow"/>
          <p:cNvSpPr/>
          <p:nvPr/>
        </p:nvSpPr>
        <p:spPr>
          <a:xfrm>
            <a:off x="3400000" y="5728280"/>
            <a:ext cx="5400000" cy="4000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217A4C"/>
          </a:solidFill>
          <a:ln>
            <a:noFill/>
          </a:ln>
        </p:spPr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FFFFFF"/>
                </a:solidFill>
                <a:latin typeface="Calibri"/>
                <a:ea typeface="Malgun Gothic"/>
              </a:rPr>
              <a:t>State / Reward : 네트워크 상태 + 지연·대역폭 기반 보상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강화학습 모델 (2) : Action &amp; Reward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2286000"/>
          </a:xfrm>
          <a:prstGeom prst="rect">
            <a:avLst/>
          </a:prstGeom>
          <a:solidFill>
            <a:srgbClr val="FFF5E6"/>
          </a:solidFill>
          <a:ln w="25400"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C86400"/>
                </a:solidFill>
                <a:latin typeface="Calibri"/>
                <a:ea typeface="Malgun Gothic"/>
              </a:rPr>
              <a:t>Action (행동)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[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수식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]  a(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h,k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) =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i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,  Y[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i,h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]=1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조건에서만</a:t>
            </a: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다음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홉(hop)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으로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전달할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스위치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번호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선택</a:t>
            </a: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현재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스위치와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연결된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스위치만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선택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가능</a:t>
            </a: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전략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: epsilon-greedy (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탐험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+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활용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11880"/>
            <a:ext cx="5486400" cy="2788920"/>
          </a:xfrm>
          <a:prstGeom prst="rect">
            <a:avLst/>
          </a:prstGeom>
          <a:solidFill>
            <a:srgbClr val="EBF2FF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969B0"/>
                </a:solidFill>
                <a:latin typeface="Calibri"/>
                <a:ea typeface="Malgun Gothic"/>
              </a:rPr>
              <a:t>Reward (보상) - 논문의 핵심 기여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[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제안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보상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함수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]  (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미연결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시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음수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보상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R = B1*(1 - delay) + B2*(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Bmin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/Ba)</a:t>
            </a: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[단, Ba &lt;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Bmin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이면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R = B3*(Ba -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Bmin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)]</a:t>
            </a:r>
          </a:p>
          <a:p>
            <a:pPr>
              <a:spcAft>
                <a:spcPts val="200"/>
              </a:spcAft>
            </a:pP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delay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작을수록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,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Bmin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/Ba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높을수록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-&gt;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보상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증가</a:t>
            </a: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B1, B2 : QoS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튜닝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가중치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(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조절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가능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486400" cy="5212080"/>
          </a:xfrm>
          <a:prstGeom prst="rect">
            <a:avLst/>
          </a:prstGeom>
          <a:solidFill>
            <a:srgbClr val="F5F7FA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52852"/>
                </a:solidFill>
                <a:latin typeface="Calibri"/>
                <a:ea typeface="Malgun Gothic"/>
              </a:rPr>
              <a:t>[보상 함수 설계 의도]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기존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보상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함수의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한계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단순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홉 수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또는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링크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비용만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고려</a:t>
            </a: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-&gt;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실제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대역폭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/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지연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무시</a:t>
            </a: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제안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보상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함수의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3가지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고려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사항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:</a:t>
            </a:r>
          </a:p>
          <a:p>
            <a:pPr>
              <a:spcAft>
                <a:spcPts val="200"/>
              </a:spcAft>
            </a:pP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(1) delay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최소화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    delay = T / (SE * Ba)</a:t>
            </a: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    (T: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데이터량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, SE: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스펙트럼효율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, Ba: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가용대역폭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  <a:p>
            <a:pPr>
              <a:spcAft>
                <a:spcPts val="200"/>
              </a:spcAft>
            </a:pP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(2)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대역폭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활용률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최대화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   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Bmin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/Ba (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요구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대역폭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대비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가용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비율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  <a:p>
            <a:pPr>
              <a:spcAft>
                <a:spcPts val="200"/>
              </a:spcAft>
            </a:pP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 (3)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경로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불가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시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음수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보상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-&gt;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자동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회피</a:t>
            </a: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Policy Evaluation - Q값 업데이트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09728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37305"/>
            <a:ext cx="10789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rgbClr val="FFFFFF"/>
                </a:solidFill>
                <a:latin typeface="Calibri"/>
                <a:ea typeface="Malgun Gothic"/>
              </a:rPr>
              <a:t>Q(s, a) &lt;- Q(s, a) + a [ R + g * max Q(s', a') - Q(s, a) 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14600"/>
            <a:ext cx="3657600" cy="8229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95051"/>
            <a:ext cx="33832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FFFFFF"/>
                </a:solidFill>
                <a:latin typeface="Calibri"/>
                <a:ea typeface="Malgun Gothic"/>
              </a:rPr>
              <a:t>a  (</a:t>
            </a:r>
            <a:r>
              <a:rPr sz="1400" b="1" i="0" dirty="0" err="1">
                <a:solidFill>
                  <a:srgbClr val="FFFFFF"/>
                </a:solidFill>
                <a:latin typeface="Calibri"/>
                <a:ea typeface="Malgun Gothic"/>
              </a:rPr>
              <a:t>학습률</a:t>
            </a:r>
            <a:r>
              <a:rPr sz="1400" b="1" i="0" dirty="0">
                <a:solidFill>
                  <a:srgbClr val="FFFFFF"/>
                </a:solidFill>
                <a:latin typeface="Calibri"/>
                <a:ea typeface="Malgun Gothic"/>
              </a:rPr>
              <a:t>, 0&lt;a&lt;1)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2514600"/>
            <a:ext cx="7498079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2687330"/>
            <a:ext cx="72237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새로운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정보가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기존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Q값을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
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덮어쓰는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정도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3520440"/>
            <a:ext cx="3657600" cy="8229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800891"/>
            <a:ext cx="33832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g  (할인계수, 0&lt;g&lt;1)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3520440"/>
            <a:ext cx="7498079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3693170"/>
            <a:ext cx="72237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미래 보상의 중요도
g가 클수록 장기 보상 중시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26280"/>
            <a:ext cx="3657600" cy="8229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806731"/>
            <a:ext cx="33832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R(h,k)  (즉시 보상)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4526280"/>
            <a:ext cx="7498079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4699010"/>
            <a:ext cx="72237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보상 함수에 의해 결정
홉 h, 트래픽 k의 보상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532120"/>
            <a:ext cx="3657600" cy="8229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812571"/>
            <a:ext cx="33832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max Q(s', a')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5532120"/>
            <a:ext cx="7498079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0" y="5704850"/>
            <a:ext cx="72237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다음 상태에서의 최대 Q값
-&gt; 최적 미래 기대값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263640"/>
            <a:ext cx="11274552" cy="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6824" y="64465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152852"/>
                </a:solidFill>
                <a:latin typeface="Calibri"/>
                <a:ea typeface="Malgun Gothic"/>
              </a:rPr>
              <a:t>-&gt; 매 </a:t>
            </a:r>
            <a:r>
              <a:rPr sz="1400" b="1" i="0" dirty="0" err="1">
                <a:solidFill>
                  <a:srgbClr val="152852"/>
                </a:solidFill>
                <a:latin typeface="Calibri"/>
                <a:ea typeface="Malgun Gothic"/>
              </a:rPr>
              <a:t>행동</a:t>
            </a:r>
            <a:r>
              <a:rPr sz="1400" b="1" i="0" dirty="0">
                <a:solidFill>
                  <a:srgbClr val="152852"/>
                </a:solidFill>
                <a:latin typeface="Calibri"/>
                <a:ea typeface="Malgun Gothic"/>
              </a:rPr>
              <a:t> 후 </a:t>
            </a:r>
            <a:r>
              <a:rPr sz="1400" b="1" i="0" dirty="0" err="1">
                <a:solidFill>
                  <a:srgbClr val="152852"/>
                </a:solidFill>
                <a:latin typeface="Calibri"/>
                <a:ea typeface="Malgun Gothic"/>
              </a:rPr>
              <a:t>Q값을</a:t>
            </a:r>
            <a:r>
              <a:rPr sz="1400" b="1" i="0" dirty="0">
                <a:solidFill>
                  <a:srgbClr val="152852"/>
                </a:solidFill>
                <a:latin typeface="Calibri"/>
                <a:ea typeface="Malgun Gothic"/>
              </a:rPr>
              <a:t> </a:t>
            </a:r>
            <a:r>
              <a:rPr sz="1400" b="1" i="0" dirty="0" err="1">
                <a:solidFill>
                  <a:srgbClr val="152852"/>
                </a:solidFill>
                <a:latin typeface="Calibri"/>
                <a:ea typeface="Malgun Gothic"/>
              </a:rPr>
              <a:t>갱신하여</a:t>
            </a:r>
            <a:r>
              <a:rPr sz="1400" b="1" i="0" dirty="0">
                <a:solidFill>
                  <a:srgbClr val="152852"/>
                </a:solidFill>
                <a:latin typeface="Calibri"/>
                <a:ea typeface="Malgun Gothic"/>
              </a:rPr>
              <a:t> </a:t>
            </a:r>
            <a:r>
              <a:rPr sz="1400" b="1" i="0" dirty="0" err="1">
                <a:solidFill>
                  <a:srgbClr val="152852"/>
                </a:solidFill>
                <a:latin typeface="Calibri"/>
                <a:ea typeface="Malgun Gothic"/>
              </a:rPr>
              <a:t>현재</a:t>
            </a:r>
            <a:r>
              <a:rPr sz="1400" b="1" i="0" dirty="0">
                <a:solidFill>
                  <a:srgbClr val="152852"/>
                </a:solidFill>
                <a:latin typeface="Calibri"/>
                <a:ea typeface="Malgun Gothic"/>
              </a:rPr>
              <a:t> </a:t>
            </a:r>
            <a:r>
              <a:rPr sz="1400" b="1" i="0" dirty="0" err="1">
                <a:solidFill>
                  <a:srgbClr val="152852"/>
                </a:solidFill>
                <a:latin typeface="Calibri"/>
                <a:ea typeface="Malgun Gothic"/>
              </a:rPr>
              <a:t>정책의</a:t>
            </a:r>
            <a:r>
              <a:rPr sz="1400" b="1" i="0" dirty="0">
                <a:solidFill>
                  <a:srgbClr val="152852"/>
                </a:solidFill>
                <a:latin typeface="Calibri"/>
                <a:ea typeface="Malgun Gothic"/>
              </a:rPr>
              <a:t> </a:t>
            </a:r>
            <a:r>
              <a:rPr sz="1400" b="1" i="0" dirty="0" err="1">
                <a:solidFill>
                  <a:srgbClr val="152852"/>
                </a:solidFill>
                <a:latin typeface="Calibri"/>
                <a:ea typeface="Malgun Gothic"/>
              </a:rPr>
              <a:t>품질을</a:t>
            </a:r>
            <a:r>
              <a:rPr sz="1400" b="1" i="0" dirty="0">
                <a:solidFill>
                  <a:srgbClr val="152852"/>
                </a:solidFill>
                <a:latin typeface="Calibri"/>
                <a:ea typeface="Malgun Gothic"/>
              </a:rPr>
              <a:t> </a:t>
            </a:r>
            <a:r>
              <a:rPr sz="1400" b="1" i="0" dirty="0" err="1">
                <a:solidFill>
                  <a:srgbClr val="152852"/>
                </a:solidFill>
                <a:latin typeface="Calibri"/>
                <a:ea typeface="Malgun Gothic"/>
              </a:rPr>
              <a:t>지속적으로</a:t>
            </a:r>
            <a:r>
              <a:rPr sz="1400" b="1" i="0" dirty="0">
                <a:solidFill>
                  <a:srgbClr val="152852"/>
                </a:solidFill>
                <a:latin typeface="Calibri"/>
                <a:ea typeface="Malgun Gothic"/>
              </a:rPr>
              <a:t> </a:t>
            </a:r>
            <a:r>
              <a:rPr sz="1400" b="1" i="0" dirty="0" err="1">
                <a:solidFill>
                  <a:srgbClr val="152852"/>
                </a:solidFill>
                <a:latin typeface="Calibri"/>
                <a:ea typeface="Malgun Gothic"/>
              </a:rPr>
              <a:t>평가</a:t>
            </a:r>
            <a:endParaRPr sz="1400" b="1" i="0" dirty="0">
              <a:solidFill>
                <a:srgbClr val="152852"/>
              </a:solidFill>
              <a:latin typeface="Calibri"/>
              <a:ea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Policy Control - epsilon-greedy 행동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212080"/>
          </a:xfrm>
          <a:prstGeom prst="rect">
            <a:avLst/>
          </a:prstGeom>
          <a:solidFill>
            <a:srgbClr val="EBF2FF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969B0"/>
                </a:solidFill>
                <a:latin typeface="Calibri"/>
                <a:ea typeface="Malgun Gothic"/>
              </a:rPr>
              <a:t>[행동 전략 수식]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90995"/>
            <a:ext cx="50292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pi(a | s) = P(a = a* | s(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h,k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) = s)</a:t>
            </a: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epsilon-greedy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전략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확률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epsilon     -&gt;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무작위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행동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(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탐험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-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확률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1-epsilon  -&gt;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최적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행동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(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활용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실험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결과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최적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값: epsilon = 0.3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(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활용에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집중할수록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지연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최소화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  <a:p>
            <a:pPr>
              <a:spcAft>
                <a:spcPts val="200"/>
              </a:spcAft>
            </a:pP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수렴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조건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Q-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Table이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더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이상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변하지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않을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때까지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반복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학습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-&gt;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최적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정책</a:t>
            </a:r>
            <a:r>
              <a:rPr sz="14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400" b="0" i="0" dirty="0" err="1">
                <a:solidFill>
                  <a:srgbClr val="3C3C3C"/>
                </a:solidFill>
                <a:latin typeface="Calibri"/>
                <a:ea typeface="Malgun Gothic"/>
              </a:rPr>
              <a:t>도출</a:t>
            </a:r>
            <a:endParaRPr sz="1400" b="0" i="0" dirty="0">
              <a:solidFill>
                <a:srgbClr val="3C3C3C"/>
              </a:solidFill>
              <a:latin typeface="Calibri"/>
              <a:ea typeface="Malgun Gothi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00" cy="5212080"/>
          </a:xfrm>
          <a:prstGeom prst="rect">
            <a:avLst/>
          </a:prstGeom>
          <a:solidFill>
            <a:srgbClr val="1E1E28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82F082"/>
                </a:solidFill>
                <a:latin typeface="Calibri"/>
                <a:ea typeface="Malgun Gothic"/>
              </a:rPr>
              <a:t>Algorithm: Q-Learning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1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Q(s, a) 테이블 초기화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2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홉 h, 상태 s(h,k) 에서: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3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  a(h,k) &lt;- epsilon-greedy로 행동 선택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4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  행동 수행 -&gt; 보상 R(h,k) 계산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5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  다음 상태 s(h+1,k) 관찰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6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  Q값 업데이트 (업데이트 수식 적용)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7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  h+1로 이동하여 반복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8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Q-Table 수렴 시 종료</a:t>
            </a:r>
          </a:p>
        </p:txBody>
      </p:sp>
      <p:sp>
        <p:nvSpPr>
          <p:cNvPr id="40" name="EpsLabel"/>
          <p:cNvSpPr txBox="1"/>
          <p:nvPr/>
        </p:nvSpPr>
        <p:spPr>
          <a:xfrm>
            <a:off x="-734209" y="4798680"/>
            <a:ext cx="488486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152852"/>
                </a:solidFill>
                <a:latin typeface="Calibri"/>
                <a:ea typeface="Malgun Gothic"/>
              </a:rPr>
              <a:t>[ ε-greedy 행동 선택 흐름 ]</a:t>
            </a:r>
          </a:p>
        </p:txBody>
      </p:sp>
      <p:sp>
        <p:nvSpPr>
          <p:cNvPr id="41" name="EpsStart"/>
          <p:cNvSpPr/>
          <p:nvPr/>
        </p:nvSpPr>
        <p:spPr>
          <a:xfrm>
            <a:off x="2824983" y="4689670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152852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100" b="1" dirty="0">
                <a:solidFill>
                  <a:srgbClr val="FFFFFF"/>
                </a:solidFill>
                <a:latin typeface="Calibri"/>
                <a:ea typeface="Malgun Gothic"/>
              </a:rPr>
              <a:t>현재 상태 s(h,k)</a:t>
            </a:r>
          </a:p>
        </p:txBody>
      </p:sp>
      <p:sp>
        <p:nvSpPr>
          <p:cNvPr id="42" name="EpsDiamond"/>
          <p:cNvSpPr/>
          <p:nvPr/>
        </p:nvSpPr>
        <p:spPr>
          <a:xfrm>
            <a:off x="2550663" y="5394670"/>
            <a:ext cx="2377440" cy="548640"/>
          </a:xfrm>
          <a:prstGeom prst="diamond">
            <a:avLst/>
          </a:prstGeom>
          <a:solidFill>
            <a:srgbClr val="C05000"/>
          </a:solidFill>
          <a:ln>
            <a:noFill/>
          </a:ln>
        </p:spPr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100" b="1" dirty="0">
                <a:solidFill>
                  <a:srgbClr val="FFFFFF"/>
                </a:solidFill>
                <a:latin typeface="Calibri"/>
                <a:ea typeface="Malgun Gothic"/>
              </a:rPr>
              <a:t>random() &lt; ε ?</a:t>
            </a:r>
          </a:p>
        </p:txBody>
      </p:sp>
      <p:sp>
        <p:nvSpPr>
          <p:cNvPr id="43" name="EpsYes"/>
          <p:cNvSpPr/>
          <p:nvPr/>
        </p:nvSpPr>
        <p:spPr>
          <a:xfrm>
            <a:off x="1544823" y="6079670"/>
            <a:ext cx="2194560" cy="548640"/>
          </a:xfrm>
          <a:prstGeom prst="roundRect">
            <a:avLst>
              <a:gd name="adj" fmla="val 20000"/>
            </a:avLst>
          </a:prstGeom>
          <a:solidFill>
            <a:srgbClr val="C050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100" b="1" dirty="0">
                <a:solidFill>
                  <a:srgbClr val="FFFFFF"/>
                </a:solidFill>
                <a:latin typeface="Calibri"/>
                <a:ea typeface="Malgun Gothic"/>
              </a:rPr>
              <a:t>탐험 (Explore)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000" b="1" dirty="0">
                <a:solidFill>
                  <a:srgbClr val="FFFFFF"/>
                </a:solidFill>
                <a:latin typeface="Calibri"/>
                <a:ea typeface="Malgun Gothic"/>
              </a:rPr>
              <a:t>무작위 행동 선택</a:t>
            </a:r>
          </a:p>
        </p:txBody>
      </p:sp>
      <p:sp>
        <p:nvSpPr>
          <p:cNvPr id="44" name="EpsNo"/>
          <p:cNvSpPr/>
          <p:nvPr/>
        </p:nvSpPr>
        <p:spPr>
          <a:xfrm>
            <a:off x="3922263" y="6079670"/>
            <a:ext cx="2194560" cy="54864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100" b="1" dirty="0">
                <a:solidFill>
                  <a:srgbClr val="FFFFFF"/>
                </a:solidFill>
                <a:latin typeface="Calibri"/>
                <a:ea typeface="Malgun Gothic"/>
              </a:rPr>
              <a:t>활용 (Exploit)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000" b="1" dirty="0">
                <a:solidFill>
                  <a:srgbClr val="FFFFFF"/>
                </a:solidFill>
                <a:latin typeface="Calibri"/>
                <a:ea typeface="Malgun Gothic"/>
              </a:rPr>
              <a:t>max Q(s,a) 행동 선택</a:t>
            </a:r>
          </a:p>
        </p:txBody>
      </p:sp>
      <p:sp>
        <p:nvSpPr>
          <p:cNvPr id="45" name="YesLbl"/>
          <p:cNvSpPr txBox="1"/>
          <p:nvPr/>
        </p:nvSpPr>
        <p:spPr>
          <a:xfrm>
            <a:off x="1544823" y="5508990"/>
            <a:ext cx="914400" cy="3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000" b="1" dirty="0">
                <a:solidFill>
                  <a:srgbClr val="C05000"/>
                </a:solidFill>
                <a:latin typeface="Calibri"/>
                <a:ea typeface="Malgun Gothic"/>
              </a:rPr>
              <a:t>YES (ε)</a:t>
            </a:r>
          </a:p>
        </p:txBody>
      </p:sp>
      <p:sp>
        <p:nvSpPr>
          <p:cNvPr id="46" name="NoLbl"/>
          <p:cNvSpPr txBox="1"/>
          <p:nvPr/>
        </p:nvSpPr>
        <p:spPr>
          <a:xfrm>
            <a:off x="4470903" y="5508990"/>
            <a:ext cx="914400" cy="3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000" b="1" dirty="0">
                <a:solidFill>
                  <a:srgbClr val="1E3A5F"/>
                </a:solidFill>
                <a:latin typeface="Calibri"/>
                <a:ea typeface="Malgun Gothic"/>
              </a:rPr>
              <a:t>NO (1-ε)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Q-Learning 라우팅 전체 동작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5" y="1234440"/>
            <a:ext cx="1965960" cy="8229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5" y="1499726"/>
            <a:ext cx="1874519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  <a:ea typeface="Malgun Gothic"/>
              </a:rPr>
              <a:t>(1) </a:t>
            </a:r>
            <a:r>
              <a:rPr sz="1300" b="1" i="0" dirty="0" err="1">
                <a:solidFill>
                  <a:srgbClr val="FFFFFF"/>
                </a:solidFill>
                <a:latin typeface="Calibri"/>
                <a:ea typeface="Malgun Gothic"/>
              </a:rPr>
              <a:t>상태</a:t>
            </a:r>
            <a:r>
              <a:rPr sz="1300" b="1" i="0" dirty="0">
                <a:solidFill>
                  <a:srgbClr val="FFFFFF"/>
                </a:solidFill>
                <a:latin typeface="Calibri"/>
                <a:ea typeface="Malgun Gothic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  <a:ea typeface="Malgun Gothic"/>
              </a:rPr>
              <a:t>감지</a:t>
            </a:r>
            <a:endParaRPr sz="1300" b="1" i="0" dirty="0">
              <a:solidFill>
                <a:srgbClr val="FFFFFF"/>
              </a:solidFill>
              <a:latin typeface="Calibri"/>
              <a:ea typeface="Malgun Gothi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9495" y="2148840"/>
            <a:ext cx="196596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7" y="2740074"/>
            <a:ext cx="1819656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3C3C"/>
                </a:solidFill>
                <a:latin typeface="Calibri"/>
                <a:ea typeface="Malgun Gothic"/>
              </a:rPr>
              <a:t>SDN Controller가
네트워크 위상,
대역폭, 트래픽 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744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2825496" y="1234440"/>
            <a:ext cx="196596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71215" y="1499726"/>
            <a:ext cx="1874519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(2) 행동 선택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25496" y="2148840"/>
            <a:ext cx="196596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152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98648" y="2740074"/>
            <a:ext cx="1819656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3C3C"/>
                </a:solidFill>
                <a:latin typeface="Calibri"/>
                <a:ea typeface="Malgun Gothic"/>
              </a:rPr>
              <a:t>Q-Table +
epsilon-greedy로
다음 스위치 결정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9744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11496" y="1234440"/>
            <a:ext cx="1965960" cy="822960"/>
          </a:xfrm>
          <a:prstGeom prst="rect">
            <a:avLst/>
          </a:prstGeom>
          <a:solidFill>
            <a:srgbClr val="82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57216" y="1499726"/>
            <a:ext cx="1874519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(3) 행동 실행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11496" y="2148840"/>
            <a:ext cx="196596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823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84648" y="2740074"/>
            <a:ext cx="1819656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3C3C"/>
                </a:solidFill>
                <a:latin typeface="Calibri"/>
                <a:ea typeface="Malgun Gothic"/>
              </a:rPr>
              <a:t>Flow Table 발행
스위치가 패킷
포워딩 수행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97496" y="1234440"/>
            <a:ext cx="196596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43216" y="1499726"/>
            <a:ext cx="1874519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(4) 보상 계산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97496" y="2148840"/>
            <a:ext cx="196596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70648" y="2740074"/>
            <a:ext cx="1819656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3C3C"/>
                </a:solidFill>
                <a:latin typeface="Calibri"/>
                <a:ea typeface="Malgun Gothic"/>
              </a:rPr>
              <a:t>지연+대역폭 기반
보상 함수 R 적용
(미연결 = 음수)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83496" y="1234440"/>
            <a:ext cx="1965960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29216" y="1499726"/>
            <a:ext cx="1874519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(5) Q-Table 갱신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83496" y="2148840"/>
            <a:ext cx="196596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56648" y="2740074"/>
            <a:ext cx="1819656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3C3C"/>
                </a:solidFill>
                <a:latin typeface="Calibri"/>
                <a:ea typeface="Malgun Gothic"/>
              </a:rPr>
              <a:t>a, g를 이용해
Q값 업데이트
수렴까지 반복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97680"/>
            <a:ext cx="11274552" cy="2194560"/>
          </a:xfrm>
          <a:prstGeom prst="rect">
            <a:avLst/>
          </a:prstGeom>
          <a:solidFill>
            <a:srgbClr val="FFFAE1"/>
          </a:solidFill>
          <a:ln w="19050">
            <a:solidFill>
              <a:srgbClr val="DC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434840"/>
            <a:ext cx="10789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152852"/>
                </a:solidFill>
                <a:latin typeface="Calibri"/>
                <a:ea typeface="Malgun Gothic"/>
              </a:rPr>
              <a:t>[수렴 결과]</a:t>
            </a:r>
          </a:p>
          <a:p>
            <a:pPr>
              <a:spcAft>
                <a:spcPts val="200"/>
              </a:spcAft>
            </a:pPr>
            <a:endParaRPr sz="1500" b="1" i="0">
              <a:solidFill>
                <a:srgbClr val="152852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3C3C3C"/>
                </a:solidFill>
                <a:latin typeface="Calibri"/>
                <a:ea typeface="Malgun Gothic"/>
              </a:rPr>
              <a:t>최적 Q-Table = 최적 라우팅 정책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3C3C3C"/>
                </a:solidFill>
                <a:latin typeface="Calibri"/>
                <a:ea typeface="Malgun Gothic"/>
              </a:rPr>
              <a:t>데이터 패킷은 Q-Table에 따라 포워딩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3C3C3C"/>
                </a:solidFill>
                <a:latin typeface="Calibri"/>
                <a:ea typeface="Malgun Gothic"/>
              </a:rPr>
              <a:t>-&gt; 전송 지연 최소화 + QoS 보장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실험 결과 및 성능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572000" cy="2286000"/>
          </a:xfrm>
          <a:prstGeom prst="rect">
            <a:avLst/>
          </a:prstGeom>
          <a:solidFill>
            <a:srgbClr val="F5F7FA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52852"/>
                </a:solidFill>
                <a:latin typeface="Calibri"/>
                <a:ea typeface="Malgun Gothic"/>
              </a:rPr>
              <a:t>[실험 환경]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-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스위치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10개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네트워크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토폴로지</a:t>
            </a: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-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가용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대역폭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Ba: 0~1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랜덤</a:t>
            </a: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-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비교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: Shortest Path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알고리즘</a:t>
            </a:r>
            <a:endParaRPr sz="1300" b="0" i="0" dirty="0">
              <a:solidFill>
                <a:srgbClr val="3C3C3C"/>
              </a:solidFill>
              <a:latin typeface="Calibri"/>
              <a:ea typeface="Malgun Gothic"/>
            </a:endParaRPr>
          </a:p>
          <a:p>
            <a:pPr>
              <a:spcAft>
                <a:spcPts val="200"/>
              </a:spcAft>
            </a:pP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-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최적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 epsilon = 0.3 (5,000회 </a:t>
            </a:r>
            <a:r>
              <a:rPr sz="1300" b="0" i="0" dirty="0" err="1">
                <a:solidFill>
                  <a:srgbClr val="3C3C3C"/>
                </a:solidFill>
                <a:latin typeface="Calibri"/>
                <a:ea typeface="Malgun Gothic"/>
              </a:rPr>
              <a:t>학습</a:t>
            </a:r>
            <a:r>
              <a:rPr sz="1300" b="0" i="0" dirty="0">
                <a:solidFill>
                  <a:srgbClr val="3C3C3C"/>
                </a:solidFill>
                <a:latin typeface="Calibri"/>
                <a:ea typeface="Malgun Gothic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188720"/>
            <a:ext cx="2148840" cy="228600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94959" y="12801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C8E6"/>
                </a:solidFill>
                <a:latin typeface="Calibri"/>
                <a:ea typeface="Malgun Gothic"/>
              </a:rPr>
              <a:t>평균 지연
감소율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59" y="20116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 dirty="0">
                <a:solidFill>
                  <a:srgbClr val="FFCC00"/>
                </a:solidFill>
                <a:latin typeface="Calibri"/>
                <a:ea typeface="Malgun Gothic"/>
              </a:rPr>
              <a:t>43.38%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59" y="27432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87878"/>
                </a:solidFill>
                <a:latin typeface="Calibri"/>
                <a:ea typeface="Malgun Gothic"/>
              </a:rPr>
              <a:t>(epsilon=0.3)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188720"/>
            <a:ext cx="2148840" cy="228600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79" y="12801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C8E6"/>
                </a:solidFill>
                <a:latin typeface="Calibri"/>
                <a:ea typeface="Malgun Gothic"/>
              </a:rPr>
              <a:t>중간값 지연
감소율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0116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CC00"/>
                </a:solidFill>
                <a:latin typeface="Calibri"/>
                <a:ea typeface="Malgun Gothic"/>
              </a:rPr>
              <a:t>33.11%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7432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87878"/>
                </a:solidFill>
                <a:latin typeface="Calibri"/>
                <a:ea typeface="Malgun Gothic"/>
              </a:rPr>
              <a:t>(epsilon=0.3)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59" y="1188720"/>
            <a:ext cx="2148840" cy="228600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399" y="12801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C8E6"/>
                </a:solidFill>
                <a:latin typeface="Calibri"/>
                <a:ea typeface="Malgun Gothic"/>
              </a:rPr>
              <a:t>최대 지연
감소율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399" y="20116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CC00"/>
                </a:solidFill>
                <a:latin typeface="Calibri"/>
                <a:ea typeface="Malgun Gothic"/>
              </a:rPr>
              <a:t>69.57%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399" y="27432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87878"/>
                </a:solidFill>
                <a:latin typeface="Calibri"/>
                <a:ea typeface="Malgun Gothic"/>
              </a:rPr>
              <a:t>(epsilon=0.3)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알고리즘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3570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평균 지연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4220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Gain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870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중간 지연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5521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Gain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6171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최대 지연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6821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605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Q-Learning (e=0.3)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67850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13570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2.01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78500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24220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A853"/>
                </a:solidFill>
                <a:latin typeface="Calibri"/>
                <a:ea typeface="Malgun Gothic"/>
              </a:rPr>
              <a:t>43.38%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89150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34870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2.00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99801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45521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A853"/>
                </a:solidFill>
                <a:latin typeface="Calibri"/>
                <a:ea typeface="Malgun Gothic"/>
              </a:rPr>
              <a:t>33.11%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10451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56171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4.29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21101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166821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A853"/>
                </a:solidFill>
                <a:latin typeface="Calibri"/>
                <a:ea typeface="Malgun Gothic"/>
              </a:rPr>
              <a:t>69.57%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Q-Learning (e=0.2)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67850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113570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2.31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78500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24220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34.93%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89150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34870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2.28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99801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45521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23.75%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10451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556171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6.26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21101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166821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55.60%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920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Q-Learning (e=0.5)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67850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113570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2.08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78500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24220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41.41%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89150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334870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2.07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99801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945521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30.77%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10451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556171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4.40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121101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166821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68.79%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02920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Shortest Path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067850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113570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3.55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78500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724220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-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289150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334870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2.99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99801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945521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10451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556171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14.10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21101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166821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-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6080760"/>
            <a:ext cx="11274552" cy="594360"/>
          </a:xfrm>
          <a:prstGeom prst="rect">
            <a:avLst/>
          </a:prstGeom>
          <a:solidFill>
            <a:srgbClr val="FFF5E6"/>
          </a:solidFill>
          <a:ln w="12700"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31520" y="6126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C86400"/>
                </a:solidFill>
                <a:latin typeface="Calibri"/>
                <a:ea typeface="Malgun Gothic"/>
              </a:rPr>
              <a:t>[안정성] </a:t>
            </a: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30% 이하 대역폭 변동(delta)에도 성능 유지 -&gt; 복잡하고 가변적인 네트워크 환경에 대응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8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  <a:ea typeface="Malgun Gothic"/>
              </a:rPr>
              <a:t>결론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03120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21497"/>
            <a:ext cx="21031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 dirty="0">
                <a:solidFill>
                  <a:srgbClr val="FFFFFF"/>
                </a:solidFill>
                <a:latin typeface="Calibri"/>
                <a:ea typeface="Malgun Gothic"/>
              </a:rPr>
              <a:t>[</a:t>
            </a:r>
            <a:r>
              <a:rPr sz="1500" b="1" i="0" dirty="0" err="1">
                <a:solidFill>
                  <a:srgbClr val="FFFFFF"/>
                </a:solidFill>
                <a:latin typeface="Calibri"/>
                <a:ea typeface="Malgun Gothic"/>
              </a:rPr>
              <a:t>핵심</a:t>
            </a:r>
            <a:r>
              <a:rPr sz="1500" b="1" i="0" dirty="0">
                <a:solidFill>
                  <a:srgbClr val="FFFFFF"/>
                </a:solidFill>
                <a:latin typeface="Calibri"/>
                <a:ea typeface="Malgun Gothic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Calibri"/>
                <a:ea typeface="Malgun Gothic"/>
              </a:rPr>
              <a:t>기여</a:t>
            </a:r>
            <a:r>
              <a:rPr sz="1500" b="1" i="0" dirty="0">
                <a:solidFill>
                  <a:srgbClr val="FFFFFF"/>
                </a:solidFill>
                <a:latin typeface="Calibri"/>
                <a:ea typeface="Malgun Gothic"/>
              </a:rPr>
              <a:t>]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280160"/>
            <a:ext cx="8961120" cy="1005840"/>
          </a:xfrm>
          <a:prstGeom prst="rect">
            <a:avLst/>
          </a:prstGeom>
          <a:solidFill>
            <a:srgbClr val="23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1524369"/>
            <a:ext cx="859536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D2E6FF"/>
                </a:solidFill>
                <a:latin typeface="Calibri"/>
                <a:ea typeface="Malgun Gothic"/>
              </a:rPr>
              <a:t>SDN 환경에서 비균일 대역폭, 이질적 QoS 패킷에 대한
새로운 보상 함수를 제안하여 Q-Learning에 적용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2103120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901657"/>
            <a:ext cx="21031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[성능 향상]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560320"/>
            <a:ext cx="8961120" cy="1005840"/>
          </a:xfrm>
          <a:prstGeom prst="rect">
            <a:avLst/>
          </a:prstGeom>
          <a:solidFill>
            <a:srgbClr val="23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2804529"/>
            <a:ext cx="859536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기존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최단경로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대비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평균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지연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43%,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최대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지연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69%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감소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
-&gt;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사용자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QoS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보장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실증</a:t>
            </a:r>
            <a:endParaRPr sz="1500" b="0" i="0" dirty="0">
              <a:solidFill>
                <a:srgbClr val="D2E6FF"/>
              </a:solidFill>
              <a:latin typeface="Calibri"/>
              <a:ea typeface="Malgun Gothic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3840479"/>
            <a:ext cx="2103120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181816"/>
            <a:ext cx="21031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[안정성]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840479"/>
            <a:ext cx="8961120" cy="1005840"/>
          </a:xfrm>
          <a:prstGeom prst="rect">
            <a:avLst/>
          </a:prstGeom>
          <a:solidFill>
            <a:srgbClr val="23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4084688"/>
            <a:ext cx="859536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D2E6FF"/>
                </a:solidFill>
                <a:latin typeface="Calibri"/>
                <a:ea typeface="Malgun Gothic"/>
              </a:rPr>
              <a:t>30% 이하 대역폭 변동에도 성능 유지
-&gt; 가변적인 실제 네트워크 환경 대응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2103120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461977"/>
            <a:ext cx="21031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[의의]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5120640"/>
            <a:ext cx="8961120" cy="1005840"/>
          </a:xfrm>
          <a:prstGeom prst="rect">
            <a:avLst/>
          </a:prstGeom>
          <a:solidFill>
            <a:srgbClr val="23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0" y="5364849"/>
            <a:ext cx="859536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RL을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SDN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라우팅에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실제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적용한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사례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
-&gt;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지능형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자율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네트워크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제어의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토대</a:t>
            </a:r>
            <a:r>
              <a:rPr sz="1500" b="0" i="0" dirty="0">
                <a:solidFill>
                  <a:srgbClr val="D2E6FF"/>
                </a:solidFill>
                <a:latin typeface="Calibri"/>
                <a:ea typeface="Malgun Gothic"/>
              </a:rPr>
              <a:t> </a:t>
            </a:r>
            <a:r>
              <a:rPr sz="1500" b="0" i="0" dirty="0" err="1">
                <a:solidFill>
                  <a:srgbClr val="D2E6FF"/>
                </a:solidFill>
                <a:latin typeface="Calibri"/>
                <a:ea typeface="Malgun Gothic"/>
              </a:rPr>
              <a:t>마련</a:t>
            </a:r>
            <a:endParaRPr sz="1500" b="0" i="0" dirty="0">
              <a:solidFill>
                <a:srgbClr val="D2E6FF"/>
              </a:solidFill>
              <a:latin typeface="Calibri"/>
              <a:ea typeface="Malgun Gothi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87878"/>
                </a:solidFill>
                <a:latin typeface="Calibri"/>
                <a:ea typeface="Malgun Gothic"/>
              </a:rPr>
              <a:t>Q-Learning 기반 SDN 라우팅 최적화  |  IEEE EUC 2021  |  Wang, Zhou, Fan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1651</Words>
  <Application>Microsoft Office PowerPoint</Application>
  <PresentationFormat>사용자 지정</PresentationFormat>
  <Paragraphs>264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USER</dc:creator>
  <cp:keywords/>
  <dc:description>generated using python-pptx</dc:description>
  <cp:lastModifiedBy>김완수</cp:lastModifiedBy>
  <cp:revision>3</cp:revision>
  <dcterms:created xsi:type="dcterms:W3CDTF">2013-01-27T09:14:16Z</dcterms:created>
  <dcterms:modified xsi:type="dcterms:W3CDTF">2026-04-15T02:37:08Z</dcterms:modified>
  <cp:category/>
</cp:coreProperties>
</file>