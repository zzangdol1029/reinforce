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10128"/>
            <a:ext cx="9144000" cy="32004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강화학습 프로젝트 발표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강화학습 기반 Worker Thread Pool 동적 튜닝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인스턴스가 고정된 운영 환경에서 트래픽 변화에 따라 worker thread pool을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동적으로 튜닝하는 정책을 DQN · PPO로 학습하고 룰 기반 정책과 비교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김완수  ·  충북대학교 산업인공지능학과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zzangdol@cbnu.ac.kr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2026. 6. 17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 (Contents)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61288" y="93268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 (Overview)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61288" y="126187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목표, 과제 요구사항 대응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46320" y="91440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504688" y="93268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 (Problem)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504688" y="126187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인스턴스 제약과 worker thread 튜닝, RL 적용 동기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847088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161288" y="186537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정의 (MDP Modeling)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61288" y="21945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큐잉 시뮬레이터, State · Action · Reward 정의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1847088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504688" y="186537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 / 알고리즘 (Methodology)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504688" y="21945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DQN(Double DQN), PPO(Actor-Critic), 베이스라인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2779776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161288" y="279806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소스 (Implementation)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61288" y="31272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구조, 환경 · 에이전트 핵심 코드 설명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779776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504688" y="279806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구성 · 평가 방법 (Settings)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504688" y="31272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하이퍼파라미터, 과적합 방지, 평가 지표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3712464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161288" y="37307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및 분석 (Results &amp; Analysis)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61288" y="405993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곡선, 정책 거동, 정책별 종합 비교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712464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504688" y="37307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· 기여 · 향후 연구 (Conclusion)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504688" y="405993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한계점 및 토론, 기여도, 향후 연구방향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46817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과제 요구 PPT 구성 — 적용 문제 → 모델(state·action 정의) → 방법/알고리즘 → 프로그램 소스 → 결과/분석 → 기여도·향후 연구방향 — 을 따른다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 — 목표 및 과제 요구사항 대응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목표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인스턴스 환경에서 트래픽 변화에 따라 worker thread pool을 동적으로 튜닝하는 정책을 강화학습(DQN · PPO)으로 학습하고, 룰 기반 · 고정 정책 대비 SLA 위반과 자원 비용을 정량 비교한다.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81381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9377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 요구사항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프로젝트 적용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강화학습 모델 — DQN, Actor-Critic, PPO, SAC 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(여러 개 적용하여 비교 가능)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Double DQN + PPO(Actor-Critic 계열) 2종 직접 구현 → 룰 기반 · 고정 정책 포함 4개 정책 비교 (SAC · 연속 제어는 향후 연구)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딥러닝 라이브러리 — DeZero(교재),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PyTorch, TensorFlow 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교재 DeZero 사용 — MLP · 옵티마이저만 라이브러리, DQN/PPO 알고리즘 로직은 전부 직접 구현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 Gym 등 시뮬레이터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 Data Set 활용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Gymnasium 표준 인터페이스(reset/step)를 따르는 큐잉 이론 기반 자체 시뮬레이터를 직접 구현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제출물 — PPT 자료 + 프로그램 소스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발표자료 + autoscaling-rl/ 전체 소스 (실행 방법 README 포함)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45262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본 자료의 구성: 적용 문제 → 모델(State · Action · Reward 정의) → 방법/알고리즘 → 프로그램 소스 → 결과 제시/분석 → 기여도 · 향후 연구방향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 — MSA 운영에서 자원은 '항상' 어긋난다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8138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MSA 서비스의 트래픽은 하루 주기로 출렁이고(오전/저녁 피크), 예고 없는 버스트가 끼어든다</a:t>
            </a:r>
            <a:endParaRPr lang="en-US" sz="13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운영 현장의 worker thread pool 크기는 한 번 튜닝한 고정값</a:t>
            </a:r>
            <a:endParaRPr lang="en-US" sz="13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자원이 부족하면 → 요청이 큐에 쌓여 응답 지연 폭증, SLA 위반</a:t>
            </a:r>
            <a:endParaRPr lang="en-US" sz="13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thread가 남으면 → 메모리(스택)·컨텍스트 스위칭 낭비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비용의 관계는 보기보다 단순하지 않다 — '항상 넉넉히'는 답이 아니다 (다음 장)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880360"/>
            <a:ext cx="2651760" cy="10515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880360"/>
            <a:ext cx="64008" cy="1051560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" y="295351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↑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12648" y="35021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부족: 큐 대기 → SLA 위반 → 사용자 이탈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2880360"/>
            <a:ext cx="2651760" cy="10515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2880360"/>
            <a:ext cx="64008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401568" y="295351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↑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401568" y="35021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과잉: 스레드 메모리 · 컨텍스트 스위칭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2880360"/>
            <a:ext cx="2651760" cy="10515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6080760" y="2880360"/>
            <a:ext cx="64008" cy="1051560"/>
          </a:xfrm>
          <a:prstGeom prst="rect">
            <a:avLst/>
          </a:prstGeom>
          <a:solidFill>
            <a:srgbClr val="2C7A2C"/>
          </a:solidFill>
          <a:ln/>
        </p:spPr>
      </p:sp>
      <p:sp>
        <p:nvSpPr>
          <p:cNvPr id="17" name="Text 15"/>
          <p:cNvSpPr/>
          <p:nvPr/>
        </p:nvSpPr>
        <p:spPr>
          <a:xfrm>
            <a:off x="6190488" y="295351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7A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최적점 이동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90488" y="35021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트래픽에 따라 적정 자원량이 계속 변함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160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트래픽을 보면서 자원을 실시간으로 조절하는 '정책'이 필요하다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 — 두 비용은 '단순 트레이드오프'가 아니다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841248"/>
            <a:ext cx="8138160" cy="93268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841248"/>
            <a:ext cx="64008" cy="9326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914400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트레이드오프(trade-off)란?  </a:t>
            </a:r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하나를 좋게 하면 반드시 다른 하나가 나빠지는 '교환' 관계.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여기서는 — thread를 늘리면 지연↓ 대신 자원 비용↑, thread를 줄이면 비용↓ 대신 지연↑.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교환이 항상 성립한다면 둘을 저울질해 균형점 '하나'만 찾으면 끝 — RL이 필요 없다.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90195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이 문제에서는 '교환'이 깨진다 — 그래프의 빨간 구간은 비용과 지연이 함께 나빠지는 구간</a:t>
            </a:r>
            <a:endParaRPr lang="en-US" sz="1250" dirty="0"/>
          </a:p>
        </p:txBody>
      </p:sp>
      <p:pic>
        <p:nvPicPr>
          <p:cNvPr id="10" name="Image 0" descr="/sessions/funny-elegant-ptolemy/mnt/reinforce-2/autoscaling-rl/results/tradeoff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304288"/>
            <a:ext cx="3977640" cy="2148840"/>
          </a:xfrm>
          <a:prstGeom prst="rect">
            <a:avLst/>
          </a:prstGeom>
        </p:spPr>
      </p:pic>
      <p:pic>
        <p:nvPicPr>
          <p:cNvPr id="11" name="Image 1" descr="/sessions/funny-elegant-ptolemy/mnt/reinforce-2/autoscaling-rl/results/tradeoff_pla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304288"/>
            <a:ext cx="3977640" cy="21488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44805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비단조 용량: c*를 넘으면 증설할수록 비용↑ 지연↑ — 교환이 아니라 둘 다 손해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663440" y="44805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교환이라면 곡선이 한 방향이어야 하나, c*에서 접혀 되돌아 올라감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02920" y="4791456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게다가 c*와 교환 구간은 트래픽 λ에 따라 계속 이동 — 균형점 '하나'가 아니라 움직이는 최적점을 추적하는 문제 = RL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 — 왜 강화학습인가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4983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순차적 의사결정 문제</a:t>
            </a:r>
            <a:endParaRPr lang="en-US" sz="130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지금의 thread 조절 결정이 미래 상태(backlog 누적)에 영향 → MDP 구조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지연된 보상</a:t>
            </a:r>
            <a:endParaRPr lang="en-US" sz="130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대응이 늦으면 backlog가 누적되어 한동안 지연이 지속 — 피크 전 선제 대응이 이득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움직이는 최적점</a:t>
            </a:r>
            <a:endParaRPr lang="en-US" sz="130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 자원량이 트래픽·워크로드에 따라 계속 변함 → 고정 룰로는 한 점만 커버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함수로 운영 목표를 직접 표현</a:t>
            </a:r>
            <a:endParaRPr lang="en-US" sz="130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확보량(c_base)·SLA·증설 비용의 가중치로 '운영 정책의 성격'을 설계 가능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1005840"/>
            <a:ext cx="3246120" cy="32918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0" y="1143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↔ MDP 대응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0" y="155448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= MSA 시스템(큐잉 모델)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= 트래픽·이용률·지연·자원량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= thread −4 / 유지 / +4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= −SLA위반 − 기본값 초과 증설비용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= 동적 thread pool 튜너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 — 인스턴스 고정 환경에서 유일한 동적 자원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8138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환경의 제약: 서비스 인스턴스(JVM 프로세스) 수가 고정</a:t>
            </a:r>
            <a:endParaRPr lang="en-US" sz="130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온프레미스 자원·배포 정책상 수평 확장(scale-out)이 불가 → 인스턴스 오토스케일링류 솔루션 적용 불가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주어진 인스턴스 안에서 실질적으로 조절 가능한 자원 = Undertow worker thread pool</a:t>
            </a:r>
            <a:endParaRPr lang="en-US" sz="130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 thread: 요청을 실제 처리하는 스레드 (컨트롤러 로직·DB 조회·외부 호출)</a:t>
            </a:r>
            <a:endParaRPr lang="en-US" sz="130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 조정 가능 — 재기동 없이 풀 크기를 바꾸는 조정 통로 구현 가능 (ThreadPoolExecutor.setCorePoolSize)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999232"/>
            <a:ext cx="8138160" cy="141732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1089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Undertow 스레드 구조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45643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 thread (코어 수): 네트워크 수락·송수신만 — 조절 대상 아님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 thread (조절 대상): 부족하면 큐 대기 ↑, 과다하면 컨텍스트 스위칭·메모리 ↑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트래픽에 따라 움직이는 최적 thread 수를 실시간 추적하는 것이 본 프로젝트의 문제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— 큐잉 이론 기반 시뮬레이터 (M/M/c 근사)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정의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8138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RL은 수만 step의 시행착오가 필요 → 실제 서버 대신 큐잉 모델 시뮬레이터에서 학습</a:t>
            </a:r>
            <a:endParaRPr lang="en-US" sz="130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자원 c개, 단위 처리율 μ → 시스템 용량 cap = c·μ,  이용률 ρ = λ / cap</a:t>
            </a:r>
            <a:endParaRPr lang="en-US" sz="130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이용률이 1에 다가가면 대기시간이 비선형 폭증 (큐잉 이론의 핵심 성질)</a:t>
            </a:r>
            <a:endParaRPr lang="en-US" sz="130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과부하(λ &gt; cap)면 처리 못 한 요청이 backlog로 누적 → 다음 step의 지연을 키움</a:t>
            </a:r>
            <a:endParaRPr lang="en-US" sz="130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'한 번 밀리면 한동안 느려지는' 실제 서버 거동을 재현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4160520" cy="182880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2679192"/>
            <a:ext cx="394106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응답시간 (autoscale_env.py)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1/μ                          # 순수 처리시간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ρ / (cap · (1−ρ))           # 정상상태 큐 대기 (ρ&lt;1)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backlog / cap               # 누적 잔여작업 소진 시간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backlog 동역학 — 매 step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backlog = max(0, backlog + (λ − cap))</a:t>
            </a:r>
            <a:endParaRPr lang="en-US" sz="1050" dirty="0"/>
          </a:p>
        </p:txBody>
      </p:sp>
      <p:pic>
        <p:nvPicPr>
          <p:cNvPr id="9" name="Image 0" descr="/sessions/funny-elegant-ptolemy/mnt/reinforce-2/autoscaling-rl/results/traffic_sa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2606040"/>
            <a:ext cx="3931920" cy="15727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846320" y="422452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생성기: 일일 사이클(오전/저녁 피크) + 랜덤 버스트 — 에피소드마다 패턴이 바뀌어 암기 불가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— 강화학습 기본 구조 (Agent · State · Reward)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정의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2743200" cy="1051560"/>
          </a:xfrm>
          <a:prstGeom prst="rect">
            <a:avLst/>
          </a:prstGeom>
          <a:solidFill>
            <a:srgbClr val="F4F6FB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424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1389888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스케일링 정책 π(a|s) — DQN / PPO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상태를 보고 행동 선택, 누적 보상 최대화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2743200" cy="1051560"/>
          </a:xfrm>
          <a:prstGeom prst="rect">
            <a:avLst/>
          </a:prstGeom>
          <a:solidFill>
            <a:srgbClr val="F4F6FB"/>
          </a:solidFill>
          <a:ln w="19050">
            <a:solidFill>
              <a:srgbClr val="C55A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3284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Environment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" y="3675888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MSA 큐잉 시뮬레이터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반영 → 다음 상태와 보상 계산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35808" y="2011680"/>
            <a:ext cx="0" cy="123444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127248" y="23774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aₜ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 −4 / 유지 / +4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87552" y="2011680"/>
            <a:ext cx="0" cy="1234440"/>
          </a:xfrm>
          <a:prstGeom prst="line">
            <a:avLst/>
          </a:prstGeom>
          <a:noFill/>
          <a:ln w="31750">
            <a:solidFill>
              <a:srgbClr val="C55A11"/>
            </a:solidFill>
            <a:prstDash val="solid"/>
            <a:headEnd type="triangle"/>
          </a:ln>
        </p:spPr>
      </p:sp>
      <p:sp>
        <p:nvSpPr>
          <p:cNvPr id="15" name="Text 13"/>
          <p:cNvSpPr/>
          <p:nvPr/>
        </p:nvSpPr>
        <p:spPr>
          <a:xfrm>
            <a:off x="1115568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sₜ₊₁ · 보상 rₜ₊₁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526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rₜ₊₁: 행동의 좋고 나쁨을 채점 — SLA 위반 · 과잉 증설 · 잦은 변경에 페널티 (다음 장 상세)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960120"/>
          <a:ext cx="42062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8803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변수 (6,)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 — 왜 관측하는가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λ  트래픽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요청 도착률(req/s) — 지금 부하의 크기 (λ_max로 정규화)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Δλ  추세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직전 step 대비 증감 — 피크가 '오는 중'인지 알려 선제 대응의 근거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ρ  이용률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λ ÷ 처리용량 — 1에 가까울수록 큐 대기 폭증 직전이라는 위험 신호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W/SLA  지연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응답지연 ÷ SLA — 1을 넘으면 SLA 위반, 서비스 품질 상태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 thread 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자원량 (c_max로 정규화) — 과거 행동들의 누적 결과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backlog  잔여작업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과부하로 못 처리해 쌓인 작업 — 과거의 여파를 상태에 담아 MDP 성립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26280" y="4572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변수는 정규화·클리핑된 값 — envs/threadpool_env.py의 _obs()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— 보상 설계: 어떤 행동이 보상받는가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정의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8138160" cy="56692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9601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 =  − 1.0·(SLA 초과비율)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− 0.30·(c − 16)⁺/48</a:t>
            </a:r>
            <a:pPr indent="0" marL="0">
              <a:buNone/>
            </a:pPr>
            <a:r>
              <a:rPr lang="en-US" sz="1400" b="1" dirty="0">
                <a:solidFill>
                  <a:srgbClr val="C55A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− 0.2·(16 − c)⁺/16</a:t>
            </a:r>
            <a:pPr indent="0" marL="0">
              <a:buNone/>
            </a:pPr>
            <a:r>
              <a:rPr lang="en-US" sz="1400" b="1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− 0.02·(행동 변경)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691640"/>
            <a:ext cx="64008" cy="1234440"/>
          </a:xfrm>
          <a:prstGeom prst="rect">
            <a:avLst/>
          </a:prstGeom>
          <a:solidFill>
            <a:srgbClr val="2C7A2C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7647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C7A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◎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67512" y="17647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SLA를 지키며 기본값(16) 유지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67512" y="2075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7A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페널티 0 — 가장 좋은 상태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7512" y="23682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평소 트래픽에서는 증설하지 않고 기본값에 머무는 것이 최선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69164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691640"/>
            <a:ext cx="64008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17647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○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28032" y="17647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증가 → 선제 증설로 SLA 방어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28032" y="2075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증설분만 소액 비용 (−0.30·초과분/48)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28032" y="23682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 위반 페널티(−1.0×)보다 훨씬 싸다 → 피크엔 증설이 이득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06324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063240"/>
            <a:ext cx="64008" cy="1234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31363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페널티 ✕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7512" y="31363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실패 → 지연이 SLA 초과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7512" y="3447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초과 정도에 비례한 큰 페널티 (최대 −5)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7512" y="37398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체계에서 가장 비싼 실수 — SLA 준수가 최우선임을 학습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06324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063240"/>
            <a:ext cx="64008" cy="1234440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28" name="Text 26"/>
          <p:cNvSpPr/>
          <p:nvPr/>
        </p:nvSpPr>
        <p:spPr>
          <a:xfrm>
            <a:off x="7680960" y="31363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페널티 △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28032" y="31363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기본값 미만 감축 / 잦은 변경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28032" y="3447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−0.2·미만 정도 / 변경마다 −0.02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28032" y="37398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여유 훼손과 설정 진동(thrashing)을 억제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45262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보상이 유도하는 최적 행동 패턴: 평소엔 기본값 16 유지 → 트래픽 상승 조짐에 선제 증설 → 피크가 지나면 기본값 복귀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— MDP 정의 (worker thread 튜닝)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정의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(6,): [ λ, λ 변화량, ρ, 지연/SLA, thread 수 c, backlog ]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(3): thread −4 / 유지 / +4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Reward: −SLA위반 − 0.30·(기본 16 초과분) − 0.2·(미만) − 0.02·행동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차이: 용량이 비단조 — thread를 늘릴수록 좋은 게 아니다</a:t>
            </a:r>
            <a:endParaRPr lang="en-US" sz="12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≤ 32: IO-bound라 병렬화 이득 → 용량 증가</a:t>
            </a:r>
            <a:endParaRPr lang="en-US" sz="12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&gt; 32: 컨텍스트 스위칭·CPU 경합 → thread당 효율 하락, 용량 감소</a:t>
            </a:r>
            <a:endParaRPr lang="en-US" sz="12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에이전트는 트래픽에 따라 움직이는 최적점을 추적해야 함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3977640"/>
            <a:ext cx="4206240" cy="91440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4050792"/>
            <a:ext cx="39867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비단조 용량 (threadpool_env.py)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overhead = 1 + α·max(0, c−knee)²/knee²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capacity = c·μ_t / overhead</a:t>
            </a:r>
            <a:endParaRPr lang="en-US" sz="1050" dirty="0"/>
          </a:p>
        </p:txBody>
      </p:sp>
      <p:pic>
        <p:nvPicPr>
          <p:cNvPr id="9" name="Image 0" descr="/sessions/funny-elegant-ptolemy/mnt/reinforce-2/autoscaling-rl/results/capacity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51560"/>
            <a:ext cx="3840480" cy="21579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937760" y="32918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곡선: c=39 부근에서 용량 피크 → 그 이상은 역효과.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룰 기반('이용률 높으면 늘려라')이 함정에 빠질 수 있는 구조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① DQN (Double DQN)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 기반(off-policy): 상태별 행동가치 Q(s,a)를 학습, 행동은 argmax Q</a:t>
            </a:r>
            <a:endParaRPr lang="en-US" sz="12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네트워크: MLP (state → 64 → 64 → 3행동), DeZero로 직접 구현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Experience Replay (5만 transition)</a:t>
            </a:r>
            <a:endParaRPr lang="en-US" sz="12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 상관 제거 + 과거의 '위기 상황(backlog 폭증)'을 반복 재학습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Network (500 step마다 동기화)</a:t>
            </a:r>
            <a:endParaRPr lang="en-US" sz="12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 안정화로 발산 방지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Double DQN</a:t>
            </a:r>
            <a:endParaRPr lang="en-US" sz="12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선택은 online, 평가는 target net → Q값 과대추정 완화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ε-greedy: 1.0 → 0.05 선형 감쇠 (학습의 60% 지점까지)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577840" y="1188720"/>
            <a:ext cx="3200400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87568" y="1261872"/>
            <a:ext cx="298094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Double DQN 타깃 (agents/dqn.py)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a_next = argmax_a Q_online(s', a)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r + γ·(1−done)·Q_target(s', a_next)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mean( (Q(s,a) − y)² 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577840" y="2834640"/>
            <a:ext cx="3200400" cy="155448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5715000" y="2944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문제에 맞나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15000" y="32461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행동이 3개뿐인 이산 공간 + replay로 드문 과부하 상태를 잊지 않음 → 강건한 정책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② PPO (Actor-Critic · Clipped Surrogate)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경사(on-policy) · Actor-Critic 구조: 정책 π(a|s)를 직접 최적화</a:t>
            </a:r>
            <a:endParaRPr lang="en-US" sz="12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Actor(정책)·Critic(가치) 분리 MLP, DeZero로 직접 구현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GAE(λ=0.95): advantage 추정의 분산 감소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Clipped objective: 정책 갱신 비율을 [1−ε, 1+ε]로 제한 (ε=0.2)</a:t>
            </a:r>
            <a:endParaRPr lang="en-US" sz="12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업데이트로 정책이 급변하는 것을 방지 → 안정적 학습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Entropy bonus(0.01): 조기 수렴 방지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rollout 2048 step마다 10 epoch 미니배치 학습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577840" y="1188720"/>
            <a:ext cx="3200400" cy="160020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87568" y="1261872"/>
            <a:ext cx="298094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PPO 손실 (agents/ppo.py)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 = exp(logπ(a|s) − logπ_old(a|s))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L_clip = min( ratio·A,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clip(ratio,1−ε,1+ε)·A 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−L_clip + 0.5·L_value − 0.01·H(π)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577840" y="3063240"/>
            <a:ext cx="3200400" cy="132588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5715000" y="31729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DQN과의 비교 관전 포인트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15000" y="345643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확률적 정책·on-policy 학습이 ① 점진 트래픽 변화, ② 드문 위기 상태에서 각각 어떻게 다르게 반응하는가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베이스라인 — 룰 기반 · 고정 설정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3931920" cy="2743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Rule-based (HPA식 임계값)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이용률 ρ &gt; 0.7 → scale-out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이용률 ρ &lt; 0.3 → scale-in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쿨다운 3 step (진동 방지)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Kubernetes HPA가 실제로 쓰는 방식 — 실무 대표 베이스라인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31920" cy="2743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Static (고정 설정)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에피소드 내내 thread 16개(기본값) 고정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 수는 모든 정책에서 고정 — 운영 제약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'튜닝 한 번 하고 방치'하는 현장 관행의 대조군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0690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프로토콜: 학습에 쓰지 않은 고정 시드 트래픽 20 에피소드에서 4개 정책을 동일 조건 비교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소스 — 구조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914400"/>
            <a:ext cx="4663440" cy="356616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987552"/>
            <a:ext cx="4443984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autoscaling-rl/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config.py              # 환경·알고리즘 하이퍼파라미터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envs/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traffic.py         # 일일 패턴+버스트 트래픽 생성기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threadpool_env.py  # thread 환경 (큐잉 공식)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event_env.py       # (확장용) 이산사건 환경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autoscale_env.py   # (확장용) 인스턴스 환경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agents/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dqn.py             # Double DQN (직접 구현)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ppo.py             # PPO + GAE (직접 구현)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baselines.py           # HPA식 룰 기반·고정 정책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train.py               # 학습 (체크포인트 재개 지원)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evaluate.py            # 평가 + 그래프 생성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results/               # 곡선·모델·그래프·요약 csv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40680" y="1005840"/>
            <a:ext cx="3383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 라이브러리: 교재의 DeZero 사용</a:t>
            </a:r>
            <a:endParaRPr lang="en-US" sz="120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MLP·옵티마이저만 라이브러리, DQN/PPO 알고리즘 로직은 전부 직접 구현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환경은 Gymnasium 표준 인터페이스</a:t>
            </a:r>
            <a:endParaRPr lang="en-US" sz="120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reset() / step() → 다른 RL 라이브러리로도 즉시 교체 검증 가능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가능성</a:t>
            </a:r>
            <a:endParaRPr lang="en-US" sz="120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 고정, 평가 트래픽 분리, requirements.txt 제공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소스 — 환경 핵심 (step 함수)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5120640" cy="393192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941832"/>
            <a:ext cx="4901184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capacity(self, c):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비단조 용량: knee 초과 시 컨텍스트 스위칭 오버헤드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overhead = 1 + alpha * max(0, c - knee)**2 / knee**2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 * mu_thread / overhead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step(self, action):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delta = (int(action) - 1) * self.c_step   # -4 / 0 / +4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self.c = clip(self.c + delta, c_min, c_max)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큐 동역학: 못 받아낸 요청은 backlog로 누적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cap = self.capacity(self.c)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self.backlog = max(0, self.backlog + (lam - cap))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self.latency = self._latency(lam)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보상: SLA 위반 + 기본값(c_base) 초과 비용 + 행동 비용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sla_excess = max(0, (latency - sla) / sla)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cost  = max(0, c - c_base) / (c_max - c_base)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under = max(0, c_base - c) / c_base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= -w_sla*sla_excess - w_cost*cost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-w_under*under - w_thrash*|delta|/c_step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06440" y="1097280"/>
            <a:ext cx="3017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→ 상태 전이 → 보상의 전 과정이 20줄 내외</a:t>
            </a:r>
            <a:endParaRPr lang="en-US" sz="11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비단조 용량: thread를 늘리는 행동이 항상 이득이 아님 — 환경이 '함정'을 가짐</a:t>
            </a:r>
            <a:endParaRPr lang="en-US" sz="11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backlog: 과부하의 여파가 다음 step으로 이어짐 — state에 포함해 MDP 유지</a:t>
            </a:r>
            <a:endParaRPr lang="en-US" sz="11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c_base 기준 비용: 평소엔 기본값 유지, 피크에만 증설하는 정책을 유도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소스 — DQN 학습 루프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914400"/>
            <a:ext cx="5120640" cy="393192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987552"/>
            <a:ext cx="4901184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learn(self):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s, a, r, s2, d = self.buffer.sample(64)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Double DQN: 선택은 online, 평가는 target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a_next = self.q(s2).data.argmax(axis=1)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q_next = self.target(s2).data[arange(B), a_next]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 = r + gamma * (1 - d) * q_next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q_sa = F.get_item(self.q(s), (arange(B), a))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 = F.sum((q_sa - y) ** 2) / B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self.q.cleargrads()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loss.backward()        # DeZero 자동미분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clip_grads([self.q], 10.0)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self.opt.update()      # Adam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self.step_count % 500 == 0: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self.target = copy.deepcopy(self.q)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806440" y="109728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 y는 기울기 차단(.data) — 학습 대상은 Q(s,a)만</a:t>
            </a:r>
            <a:endParaRPr lang="en-US" sz="11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Double DQN 한 줄 차이: a_next를 online net에서 선택</a:t>
            </a:r>
            <a:endParaRPr lang="en-US" sz="11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global-norm gradient clipping은 DeZero에 없어 직접 구현</a:t>
            </a:r>
            <a:endParaRPr lang="en-US" sz="11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ε-greedy·replay·target sync 주기는 config.py에서 일괄 관리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소스 — PPO 업데이트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914400"/>
            <a:ext cx="5120640" cy="365760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987552"/>
            <a:ext cx="490118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GAE(λ)로 advantage 계산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 in reversed(range(T)):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delta = r[t] + γ·V[t+1]·(1−done) − V[t]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gae   = delta + γ·λ·(1−done)·gae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adv[t] = gae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 = (adv − adv.mean()) / adv.std()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Clipped surrogate (미니배치 × 10 epoch)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 = F.exp(logp − logp_old)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surr1 = ratio * adv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surr2 = F.clip(ratio, 1−ε, 1+ε) * adv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take1 = (surr1.data &lt;= surr2.data)   # min 선택 마스크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pi_loss = -F.sum(surr1*take1 + surr2*(1−take1)) / m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pi_loss + 0.5*v_loss − 0.01*entropy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806440" y="109728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DeZero에 element-wise min이 없어 선택 마스크로 직접 구현</a:t>
            </a:r>
            <a:endParaRPr lang="en-US" sz="11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min의 기울기는 '작은 쪽으로만 흐른다'와 수학적으로 동일</a:t>
            </a:r>
            <a:endParaRPr lang="en-US" sz="11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advantage 정규화로 학습 안정화</a:t>
            </a:r>
            <a:endParaRPr lang="en-US" sz="11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actor·critic 분리 옵티마이저 — 가치 손실이 정책을 흔들지 않도록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구성 및 평가 방법 (Experiment Settings)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14400"/>
          <a:ext cx="81381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6751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DQN 500 에피소드, PPO 600 에피소드 (1 에피소드 = 288 step = 하루 트래픽)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DQN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hidden 128, lr 5e-4, buffer 100k, batch 128, 4 step마다 1회 학습, target sync 1000 step, ε 1.0→0.05 (학습 50%까지 감쇠)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PPO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hidden 128, lr 3e-4, GAE λ 0.95, clip 0.2, rollout 4096, 10 epoch, minibatch 256, entropy 0.01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네트워크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MLP 2×128 (DQN: ReLU / PPO: tanh), DeZero 구현 — 권장값 근거는 config.py 주석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 전용 시드 20 에피소드(학습·검증 미사용), greedy, 검증 best 가중치 사용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에피소드 보상 / SLA 위반률(step 비율) / 평균 자원 비용 / 평균 지연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44348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컴퓨팅: CPU만으로 충분 (알고리즘당 수 분) — hp_search.py로 하이퍼파라미터 탐색 가능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과적합 방지 설계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914400"/>
            <a:ext cx="8138160" cy="115214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914400"/>
            <a:ext cx="64008" cy="115214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78992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25880" y="1005840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 3분할 — 학습 / 검증 / 평가 트래픽 완전 분리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25880" y="1353312"/>
            <a:ext cx="7178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학습(seed×10000+ep), 검증(VAL_SEED), 최종 평가(EVAL_SEED)가 절대 겹치지 않음. 평가 시드는 하이퍼파라미터 튜닝에도 사용하지 않는다 — 지도학습의 train/val/test 분리와 동일한 원칙.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212848"/>
            <a:ext cx="8138160" cy="115214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212848"/>
            <a:ext cx="64008" cy="115214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3774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25880" y="2304288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기반 best 체크포인트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25880" y="2651760"/>
            <a:ext cx="7178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에피소드마다 검증 트래픽에서 greedy 평가 → 최고 성능 시점의 가중치를 별도 저장. 학습 후반의 정책 붕괴(v1 PPO에서 관찰)가 최종 모델을 오염시키지 않는다. 최종 평가는 항상 best 가중치로 수행.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511296"/>
            <a:ext cx="8138160" cy="115214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3511296"/>
            <a:ext cx="64008" cy="115214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675888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325880" y="3602736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랜덤화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25880" y="3950208"/>
            <a:ext cx="7178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위상·피크 크기·버스트 위치가 에피소드마다 무작위 — 특정 패턴을 암기하는 정책은 검증에서 걸러진다.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① 학습 곡선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000" dirty="0"/>
          </a:p>
        </p:txBody>
      </p:sp>
      <p:pic>
        <p:nvPicPr>
          <p:cNvPr id="6" name="Image 0" descr="/sessions/funny-elegant-ptolemy/mnt/reinforce-2/autoscaling-rl/results/threadpool_learning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14400"/>
            <a:ext cx="5669280" cy="31821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55080" y="1097280"/>
            <a:ext cx="2514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실선: 학습 보상(10-ep 이동평균) / 점선: 검증 트래픽 보상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곡선의 최고점에서 best 체크포인트가 저장됨 — 최종 평가에 사용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관전 포인트: 무작위 초기 정책 대비 수렴 수준, DQN(ε 감쇠를 따라 점진 개선) vs PPO(빠른 수렴) 형태 차이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수렴 후 출렁임은 에피소드마다 트래픽 난이도(버스트 수·크기)가 달라서 — 비정상 아님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② 같은 트래픽에서의 정책 거동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000" dirty="0"/>
          </a:p>
        </p:txBody>
      </p:sp>
      <p:pic>
        <p:nvPicPr>
          <p:cNvPr id="6" name="Image 0" descr="/sessions/funny-elegant-ptolemy/mnt/reinforce-2/autoscaling-rl/results/threadpool_behavi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41248"/>
            <a:ext cx="4544568" cy="4059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20640" y="1097280"/>
            <a:ext cx="3703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위: 트래픽 / 가운데: worker thread 수 / 아래: 응답 지연(빨간 점선 = SLA)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 ①: RL 정책이 평소 기본값(16) 부근을 유지하다 피크에 증설 후 복귀하는가</a:t>
            </a:r>
            <a:endParaRPr lang="en-US" sz="11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 ②: thread를 무작정 늘리지 않는가 — 비단조 용량의 함정 회피</a:t>
            </a:r>
            <a:endParaRPr lang="en-US" sz="11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 ③: Rule-based의 사후 대응 지연 스파이크 vs RL의 선제 대응</a:t>
            </a:r>
            <a:endParaRPr lang="en-US" sz="11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Static(회색)은 버스트마다 SLA 붕괴 → 동적 제어의 필요성 입증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③ 정책 종합 비교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4124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evaluate.py 출력 (results/threadpool_summary.csv) — 평가 전용 시드 20 에피소드, 비용은 c_base(16) 초과 증설분 기준</a:t>
            </a:r>
            <a:endParaRPr lang="en-US" sz="11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507492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914400"/>
                <a:gridCol w="1051560"/>
                <a:gridCol w="914400"/>
                <a:gridCol w="10515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SLA 위반률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자원 비용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평균 지연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DQN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−44.9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0.130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151 ms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PPO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−60.7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0.273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155 ms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Rule-based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−65.8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0.288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182 ms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7777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Static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7777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−652.9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7777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50.3%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7777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7777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4,218 ms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760720" y="132588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결과</a:t>
            </a:r>
            <a:endParaRPr lang="en-US" sz="110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DQN: 룰 기반과 같은 SLA 수준(3.1% vs 3.5%)을 절반 이하의 증설 비용(0.130 vs 0.288)으로 달성</a:t>
            </a:r>
            <a:endParaRPr lang="en-US" sz="110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PPO도 룰 기반 대비 우위 — 단, DQN이 더 효율적인 운영점에 수렴</a:t>
            </a:r>
            <a:endParaRPr lang="en-US" sz="110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Static은 SLA 위반 50.3% — 동적 제어가 필수임을 입증</a:t>
            </a:r>
            <a:endParaRPr lang="en-US" sz="1100" dirty="0"/>
          </a:p>
        </p:txBody>
      </p:sp>
      <p:pic>
        <p:nvPicPr>
          <p:cNvPr id="9" name="Image 0" descr="/sessions/funny-elegant-ptolemy/mnt/reinforce-2/autoscaling-rl/results/threadpoo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291840"/>
            <a:ext cx="53492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분석 — 세 가지 분석 축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914400"/>
            <a:ext cx="8138160" cy="115214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914400"/>
            <a:ext cx="64008" cy="1152144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78992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25880" y="1005840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제어는 필수인가 — Static과의 격차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25880" y="1353312"/>
            <a:ext cx="7178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Static의 SLA 위반 50.3% vs 동적 정책 3.1~3.5% — 버스트마다의 붕괴가 실측으로 확인됐다. '튜닝 한 번 하고 방치'하는 관행의 비용이 정량화됐다.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212848"/>
            <a:ext cx="8138160" cy="115214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212848"/>
            <a:ext cx="64008" cy="1152144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3774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25880" y="2304288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설계 = 운영 정책 설계 — c_base의 효과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25880" y="2651760"/>
            <a:ext cx="7178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거동 그래프에서 RL은 평소 기본값(16) 부근 유지 → 피크 증설 → 복귀를 보였다. DQN의 평균 비용 0.130은 룰 기반(0.288)의 45% — '필요할 때만 증설'이 보상 설계대로 유도됐다.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511296"/>
            <a:ext cx="8138160" cy="115214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3511296"/>
            <a:ext cx="64008" cy="1152144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675888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325880" y="3602736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특성 — on-policy vs off-policy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25880" y="3950208"/>
            <a:ext cx="7178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DQN(−44.9)이 PPO(−60.7)보다 우위 — experience replay가 드물지만 치명적인 위기(backlog 폭증) 경험을 보존해, 비단조 용량의 함정을 더 안정적으로 회피한 것으로 해석된다.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한계점 및 토론 (Limitations &amp; Discussions)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토론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138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시뮬레이터와 실제의 간극 (sim-to-real gap)</a:t>
            </a:r>
            <a:endParaRPr lang="en-US" sz="12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시뮬레이터는 실제 JVM의 GC pause, JIT 워밍업, 요청 간 의존성을 단순화</a:t>
            </a:r>
            <a:endParaRPr lang="en-US" sz="12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적용 시 시뮬레이터 보정(실측 트래픽·지연 분포 반영)이 선행돼야 함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PPO의 위기 상태 학습 한계</a:t>
            </a:r>
            <a:endParaRPr lang="en-US" sz="12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실험에서는 미해결 — 위기 상태 오버샘플링, 보상 정형화(clipping 완화), 커리큘럼 학습 등이 후보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공간의 단순화</a:t>
            </a:r>
            <a:endParaRPr lang="en-US" sz="12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±4 thread의 이산 행동 — 연속 제어(SAC)나 가변 폭 조절은 미실험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서비스 가정</a:t>
            </a:r>
            <a:endParaRPr lang="en-US" sz="12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MSA는 서비스 간 의존(한 서비스의 병목이 전파) — 멀티에이전트 확장 필요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기여도 및 향후 연구 (Contribution &amp; Future Work)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기여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3977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환경(고정 인스턴스 + Undertow)을 반영한 thread pool 튜닝 RL 환경을 큐잉 이론 기반으로 직접 설계·구현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DQN·PPO를 교재 DeZero로 밑바닥 구현 — 알고리즘 동작을 코드 수준에서 검증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표준(임계값 룰)·고정 설정 대비 정량 비교 체계 구축 (시드 분리, 검증 best 체크포인트)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c_base 기준 보상 설계로 '기본값 유지 + 피크 증설' 운영 정책을 보상 함수로 표현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800600" y="868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연구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00600" y="1234440"/>
            <a:ext cx="3977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Undertow 기반 Spring Boot 서비스 연동 — 런타임 thread pool 조정 endpoint + JMeter 부하로 정책 검증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확장: 수평 확장이 가능한 환경을 위한 인스턴스 오토스케일링 — 부록 환경으로 동일 프레임워크에서 실험 가능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연구(MSA 로그 이상 탐지)와 통합: 이상 탐지가 찾은 위험 신호를 state에 추가해 장애 선제 대응형 스케일링으로 확장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시뮬레이터 충실도 확장(요청 단위 이산사건·p95 SLA) 및 실측 트래픽 기반 보정 (sim-to-real)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4187952"/>
            <a:ext cx="827532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42976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제출물: PPT + 프로그램 소스 (autoscaling-rl/, 실행 방법 README 포함)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74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788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206240" y="1828800"/>
            <a:ext cx="731520" cy="32004"/>
          </a:xfrm>
          <a:prstGeom prst="rect">
            <a:avLst/>
          </a:prstGeom>
          <a:solidFill>
            <a:srgbClr val="C55A1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강화학습 기반 Worker Thread Pool 동적 튜닝</dc:title>
  <dc:subject>PptxGenJS Presentation</dc:subject>
  <dc:creator>김완수</dc:creator>
  <cp:lastModifiedBy>김완수</cp:lastModifiedBy>
  <cp:revision>1</cp:revision>
  <dcterms:created xsi:type="dcterms:W3CDTF">2026-06-12T09:07:12Z</dcterms:created>
  <dcterms:modified xsi:type="dcterms:W3CDTF">2026-06-12T09:07:12Z</dcterms:modified>
</cp:coreProperties>
</file>