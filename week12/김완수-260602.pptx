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6954DD-111B-45EE-95C3-AF8ED21A0962}">
  <a:tblStyle styleId="{7D6954DD-111B-45EE-95C3-AF8ED21A096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zzangdol1029/reinforce.git" TargetMode="External"/><Relationship Id="rId4" Type="http://schemas.openxmlformats.org/officeDocument/2006/relationships/hyperlink" Target="https://github.com/zzangdol1029/reinforce.g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000"/>
              <a:buFont typeface="Malgun Gothic"/>
              <a:buNone/>
            </a:pPr>
            <a:r>
              <a:rPr b="0" i="0" lang="en-US" sz="2000" u="none" cap="none" strike="noStrike">
                <a:solidFill>
                  <a:srgbClr val="14A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12주차 Programming Quiz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41732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algun Gothic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Mountain Car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algun Gothic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강화학습 실험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Actor-Critic  ·  DQN  |  Hyper-parameter Sweep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김완수  |  2025254011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>
            <a:hlinkClick r:id="rId3"/>
          </p:cNvPr>
          <p:cNvSpPr/>
          <p:nvPr/>
        </p:nvSpPr>
        <p:spPr>
          <a:xfrm>
            <a:off x="457200" y="39502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300"/>
              <a:buFont typeface="Malgun Gothic"/>
              <a:buNone/>
            </a:pPr>
            <a:r>
              <a:rPr b="0" i="0" lang="en-US" sz="130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4"/>
              </a:rPr>
              <a:t>github.com/zzangdol1029/reinforce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82880" y="4782312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Policy Gradient Method  —  MountainCar-v0 (Gymnasium)  |  김완수 2025254011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1A2B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97280" y="10241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소개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97280" y="12801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MountainCar-v0 환경 및 실험 개요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664208"/>
            <a:ext cx="50292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7200" y="16642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97280" y="168249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Actor-Critic 소스 설명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97280" y="193852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PolicyNet / ValueNet / 학습 알고리즘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2322576"/>
            <a:ext cx="50292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57200" y="23225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097280" y="23408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DQN 소스 설명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97280" y="2596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QNet / ReplayBuffer / 학습 알고리즘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2980944"/>
            <a:ext cx="50292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29809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97280" y="29992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Actor-Critic 실험 결과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97280" y="325526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20회 HP 스윕 — 최적 HP 및 그래프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3639312"/>
            <a:ext cx="50292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57200" y="3639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97280" y="3657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DQN 실험 결과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97280" y="3913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20회 HP 스윕 — 최적 HP 및 그래프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97280" y="43159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97280" y="45720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분석 및 두 알고리즘 비교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|  문제 소개 — MountainCar-v0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74320" y="960120"/>
            <a:ext cx="40233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 설명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1508760"/>
            <a:ext cx="3657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상태(State): 위치(pos), 속도(vel) — 2차원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행동(Action): 왼쪽 / 정지 / 오른쪽 (3개)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보상(Reward): 매 스텝 -1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종료 조건: 위치 &gt;= 0.5 또는 200 스텝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총보상 -200 = 완전 실패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총보상 ~ -110 ~ -130 = 성공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목표: 자동차가 관성을 이용해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언덕을 올라가는 정책 학습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480560" y="960120"/>
            <a:ext cx="43891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개요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1) Actor-Critic (MC 에피소드 기반)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2) DQN (Experience Replay + Target Net)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설정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• Hyper-parameter Sweep: 20회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• 선정 기준: max_total_reward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• Seed: 0 (재현성 보장)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• Reward Shaping: 위치 증가 시 추가 보상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• epsilon-greedy 탐색 (1.0 → 0.05 decay)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|  Actor-Critic 소스 설명 — 네트워크 구조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365760" y="94183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PolicyNet  (Actor -- pi(a|s))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65760" y="1417320"/>
            <a:ext cx="393192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class PolicyNet(Model):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def __init__(self, action_size,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       hidden=128):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self.l1 = L.Linear(hidden)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self.l2 = L.Linear(action_size)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def forward(self, x):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x = F.relu(self.l1(x))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x = F.softmax(self.l2(x))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return 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입력: 정규화된 상태 (pos, vel)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출력: 행동 확률 P(a|s) 3차원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hidden: 64 / 128 / 256 실험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663440" y="914400"/>
            <a:ext cx="4206240" cy="43891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754880" y="94183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ValueNet  (Critic -- V(s))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754880" y="1417320"/>
            <a:ext cx="40233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class ValueNet(Model):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def __init__(self, hidden=128):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self.l1 = L.Linear(hidden)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self.l2 = L.Linear(1)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def forward(self, x):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x = F.relu(self.l1(x))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x = self.l2(x)  # 선형 출력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return 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입력: 정규화된 상태 (pos, vel)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출력: 상태 가치 V(s) 스칼라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Actor와 동일한 hidden 크기 사용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|  Actor-Critic 소스 설명 — 학습 알고리즘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274320" y="914400"/>
            <a:ext cx="5303520" cy="3931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411480" y="960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4A085"/>
                </a:solidFill>
                <a:latin typeface="Consolas"/>
                <a:ea typeface="Consolas"/>
                <a:cs typeface="Consolas"/>
                <a:sym typeface="Consolas"/>
              </a:rPr>
              <a:t>update_episode() -- MC Actor-Critic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11480" y="1325880"/>
            <a:ext cx="5029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# 1) MC Return 계산 (역방향 누적)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for t in range(n-1, -1, -1):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  g = trajectory[t].reward + gamma * 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  returns[t] = 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# 2) Return 정규화 (학습 안정화)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returns = (returns - mean) / std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# 3) Critic 업데이트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loss_v = MSE(V(s_t), G_t)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# 4) Actor 업데이트 (Advantage 기반)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delta = G_t - V(s_t)       # Advantage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loss_pi = -log pi(a|s) * delta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      - entropy_coef * H(pi)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# 5) Gradient Clipping (max_norm=1.0)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clip_model_grads(model, 1.0)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760720" y="914400"/>
            <a:ext cx="31089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5897880" y="10058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특징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852160" y="1463040"/>
            <a:ext cx="54864" cy="5943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5989320" y="148132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Reward Shaping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989320" y="171907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위치 증가 시 추가 보상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(scale=10~30)으로 탐색 촉진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852160" y="2286000"/>
            <a:ext cx="54864" cy="5943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5989320" y="230428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epsilon-greedy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989320" y="254203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1.0 -&gt; 0.05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(90% 구간 선형 감소)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852160" y="3108960"/>
            <a:ext cx="54864" cy="5943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5989320" y="312724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Entropy Reg.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989320" y="336499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entropy_coef로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정책 다양성 유지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852160" y="3931920"/>
            <a:ext cx="54864" cy="5943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989320" y="395020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정규화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989320" y="41879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 in [-1.2,0.6]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[0,1] 선형 변환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|  DQN 소스 설명 — QNet &amp; ReplayBuffer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274320" y="914400"/>
            <a:ext cx="411480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365760" y="941832"/>
            <a:ext cx="39319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QNet -- Q(s,a) 근사 신경망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365760" y="137160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class QNet(Model):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def __init__(action_size, h1, h2):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self.l1 = L.Linear(h1)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self.l2 = L.Linear(h2)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self.l3 = L.Linear(action_size)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def forward(self, x):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return self.l3(relu(self.l2(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   relu(self.l1(x)))))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Q값 직접 출력 (softmax 없음)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274320" y="3337560"/>
            <a:ext cx="411480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274320" y="3337560"/>
            <a:ext cx="4114800" cy="36576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365760" y="336499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ReplayBuffer -- 경험 재생 버퍼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365760" y="374904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buffer = deque(maxlen=100_000)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(s, a, r, s', done) 저장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def get_batch():  # 랜덤 샘플링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return random.sample(buffer, batch)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4709160" y="10058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DQN 학습 흐름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709160" y="1508760"/>
            <a:ext cx="320040" cy="3200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4709160" y="1508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120640" y="148132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Warmup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120640" y="170992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15,000 스텝 랜덤 행동으로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ReplayBuffer 사전 충전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709160" y="2167128"/>
            <a:ext cx="320040" cy="3200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4709160" y="21671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120640" y="213969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epsilon-greedy 탐색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120640" y="236829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1.0-&gt;0.02 선형 감소 (95% 구간)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709160" y="2825496"/>
            <a:ext cx="320040" cy="3200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709160" y="28254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120640" y="2798064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경험 저장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120640" y="302666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(s, a, r_shaped, s', done) 저장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709160" y="3483864"/>
            <a:ext cx="320040" cy="3200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4709160" y="348386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120640" y="345643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미니배치 업데이트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120640" y="368503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y = r + gamma * max Q_target(s')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709160" y="4142232"/>
            <a:ext cx="320040" cy="3200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709160" y="414223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120640" y="411480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Target Net 동기화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120640" y="434340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sync_interval ep마다 복사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|  Actor-Critic 실험 결과 — HP Sweep (20회)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274320" y="914400"/>
            <a:ext cx="329184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274320" y="914400"/>
            <a:ext cx="3291840" cy="43891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365760" y="94183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최적 Hyper-parameter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320040" y="1444752"/>
            <a:ext cx="3200400" cy="43891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11480" y="15270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331720" y="15270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20040" y="1901952"/>
            <a:ext cx="320040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411480" y="1984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lr_pi (Actor LR)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2331720" y="19842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0.0005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20040" y="2359152"/>
            <a:ext cx="3200400" cy="43891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411480" y="24414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lr_v (Critic LR)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2331720" y="24414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320040" y="2816352"/>
            <a:ext cx="320040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11480" y="2898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hidden units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2331720" y="2898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20040" y="3273552"/>
            <a:ext cx="3200400" cy="43891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11480" y="33558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shaping_scale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2331720" y="33558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20040" y="3730752"/>
            <a:ext cx="320040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411480" y="38130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entropy_coef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2331720" y="38130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20040" y="4187952"/>
            <a:ext cx="3200400" cy="43891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411480" y="4270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episodes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2331720" y="42702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1,500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274320" y="4343400"/>
            <a:ext cx="329184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365760" y="4370832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최대 총보상: -85.0  |  성공률: 31.8%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40" y="914400"/>
            <a:ext cx="5120640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|  Actor-Critic — 학습 곡선 (Best Run)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weet-eager-hopper/mnt/week12/results_quiz_q1_mountain_car_ac/best/episode_total_reward.png"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420624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/>
          <p:nvPr/>
        </p:nvSpPr>
        <p:spPr>
          <a:xfrm>
            <a:off x="274320" y="36576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Best Run (run02) — episode별 총보상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weet-eager-hopper/mnt/week12/results_quiz_q1_mountain_car_ac/sweep_top5_episode_rewards.png" id="187" name="Google Shape;1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960120"/>
            <a:ext cx="420624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/>
          <p:nvPr/>
        </p:nvSpPr>
        <p:spPr>
          <a:xfrm>
            <a:off x="4663440" y="36576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5 runs 비교 — episode별 총보상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457200" y="409651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관찰: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1,000 에피소드는 대부분 -200(실패)이며, 약 1,200 에피소드 이후부터 -85~-100의 성공 에피소드 출현. 학습 곡선의 분산이 크며 간헐적 성공 패턴 (성공률 31.8%).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 |  DQN 실험 결과 — HP Sweep (20회)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274320" y="914400"/>
            <a:ext cx="329184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274320" y="914400"/>
            <a:ext cx="3291840" cy="43891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365760" y="94183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최적 Hyper-parameter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320040" y="1444752"/>
            <a:ext cx="3200400" cy="43891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411480" y="15270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2331720" y="15270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320040" y="1901952"/>
            <a:ext cx="320040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411480" y="1984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learning_rate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2331720" y="19842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20040" y="2359152"/>
            <a:ext cx="3200400" cy="43891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411480" y="24414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epsilon_end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2331720" y="24414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320040" y="2816352"/>
            <a:ext cx="320040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411480" y="2898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batch_size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2331720" y="2898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320040" y="3273552"/>
            <a:ext cx="3200400" cy="43891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411480" y="33558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sync_interval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2331720" y="33558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10 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20040" y="3730752"/>
            <a:ext cx="320040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11480" y="38130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hidden (2층)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2331720" y="38130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256 x 256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20040" y="4187952"/>
            <a:ext cx="3200400" cy="43891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411480" y="4270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warmup_steps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331720" y="42702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15,000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274320" y="4343400"/>
            <a:ext cx="3291840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365760" y="4370832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최대 총보상: -86.0  |  성공률: 33.5%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40" y="914400"/>
            <a:ext cx="5120640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 |  DQN — 학습 곡선 (Best Run)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weet-eager-hopper/mnt/week12/results_quiz_q1_mountain_car_dqn/best/episode_total_reward.png" id="232" name="Google Shape;2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420624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/>
          <p:nvPr/>
        </p:nvSpPr>
        <p:spPr>
          <a:xfrm>
            <a:off x="274320" y="36576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Best Run (run18) — episode별 총보상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weet-eager-hopper/mnt/week12/results_quiz_q1_mountain_car_dqn/sweep_top5_episode_rewards.png" id="234" name="Google Shape;23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960120"/>
            <a:ext cx="420624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/>
          <p:nvPr/>
        </p:nvSpPr>
        <p:spPr>
          <a:xfrm>
            <a:off x="4663440" y="36576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5 runs 비교 — episode별 총보상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457200" y="409651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관찰: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DQN은 약 500~600 에피소드부터 성공 에피소드가 나타나고, 800 에피소드 부근(ep 722)에서 최고 -86 기록. Actor-Critic보다 이른 수렴이 관찰되며 성공률 33.5%.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 |  고찰 — 실험 결과 분석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13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{7D6954DD-111B-45EE-95C3-AF8ED21A0962}</a:tableStyleId>
              </a:tblPr>
              <a:tblGrid>
                <a:gridCol w="2286000"/>
                <a:gridCol w="3154675"/>
                <a:gridCol w="31546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Actor-Critic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DQN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최대 총보상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-85.0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-86.0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최고 에피소드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1,383 ep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722 ep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성공률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31.8%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33.5%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HP 실험 횟수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20회 (1,500 ep)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20회 (800 ep)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 감가율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gamma=0.99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gamma=0.99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네트워크 구조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2층 (Actor+Critic)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3층 (Q+Target)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탐색 기법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epsilon-greedy + Entropy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epsilon-greedy + Warmup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13"/>
          <p:cNvSpPr/>
          <p:nvPr/>
        </p:nvSpPr>
        <p:spPr>
          <a:xfrm>
            <a:off x="274320" y="3931920"/>
            <a:ext cx="859536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457200" y="400507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(1)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알고리즘 모두 최대 총보상 -85~-86으로 유사한 최고 성능. DQN이 더 적은 에피소드(722ep)에서 최고점 도달.  </a:t>
            </a:r>
            <a:r>
              <a:rPr b="1" i="0" lang="en-US" sz="115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(2)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Reward Shaping과 epsilon-greedy 탐색이 두 알고리즘 모두에서 핵심 성공 요인.  </a:t>
            </a:r>
            <a:r>
              <a:rPr b="1" i="0" lang="en-US" sz="1150" u="none" cap="none" strike="noStrike">
                <a:solidFill>
                  <a:srgbClr val="0D7377"/>
                </a:solidFill>
                <a:latin typeface="Malgun Gothic"/>
                <a:ea typeface="Malgun Gothic"/>
                <a:cs typeface="Malgun Gothic"/>
                <a:sym typeface="Malgun Gothic"/>
              </a:rPr>
              <a:t>(3)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gamma=0.99, hidden=256이 공통 최적값 — 장기 보상 문제에서는 높은 감가율과 충분한 표현력이 중요.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14A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algun Gothic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Actor-Critic &amp; DQN으로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algun Gothic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MountainCar 정복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457200" y="2834640"/>
            <a:ext cx="54864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640080" y="285292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알고리즘 모두 최대 총보상 -85~-86 달성 (-200 대비 크게 개선)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57200" y="3310128"/>
            <a:ext cx="54864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640080" y="3328416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DQN: Experience Replay + Target Net으로 더 빠른 수렴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457200" y="3785616"/>
            <a:ext cx="54864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640080" y="3803904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Actor-Critic: MC 기반 Advantage로 정책 직접 최적화, 높은 분산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457200" y="4261104"/>
            <a:ext cx="54864" cy="3200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640080" y="42793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핵심: Reward Shaping + epsilon-greedy + gamma=0.99 + hidden=256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182880" y="4782312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김완수  |  2025254011  |  github.com/zzangdol1029/reinforce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