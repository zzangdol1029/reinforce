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67" r:id="rId1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8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463040"/>
            <a:ext cx="94457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Calibri"/>
                <a:ea typeface="Malgun Gothic"/>
              </a:rPr>
              <a:t>Q-Learning 기반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Calibri"/>
                <a:ea typeface="Malgun Gothic"/>
              </a:rPr>
              <a:t>SDN 라우팅 최적화 모델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B4D2FF"/>
                </a:solidFill>
                <a:latin typeface="Calibri"/>
                <a:ea typeface="Malgun Gothic"/>
              </a:rPr>
              <a:t>A Q-Learning based Routing Optimization Model in a Software Defined Network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3931920"/>
            <a:ext cx="4873752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206240"/>
            <a:ext cx="94457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sz="1600" b="0" i="0">
                <a:solidFill>
                  <a:srgbClr val="C8DCF0"/>
                </a:solidFill>
                <a:latin typeface="Calibri"/>
                <a:ea typeface="Malgun Gothic"/>
              </a:rPr>
              <a:t>Yupeng Wang, Xin Zhou, Xinyue Fan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sz="1400" b="0" i="0">
                <a:solidFill>
                  <a:srgbClr val="C8DCF0"/>
                </a:solidFill>
                <a:latin typeface="Calibri"/>
                <a:ea typeface="Malgun Gothic"/>
              </a:rPr>
              <a:t>Shenyang Aerospace University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sz="1400" b="0" i="0">
                <a:solidFill>
                  <a:srgbClr val="787878"/>
                </a:solidFill>
                <a:latin typeface="Calibri"/>
                <a:ea typeface="Malgun Gothic"/>
              </a:rPr>
              <a:t>IEEE 19th Int'l Conference on Embedded and Ubiquitous Computing (EUC), 2021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5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  <a:ea typeface="Malgun Gothic"/>
              </a:rPr>
              <a:t>논문 정보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828800" cy="822960"/>
          </a:xfrm>
          <a:prstGeom prst="rect">
            <a:avLst/>
          </a:prstGeom>
          <a:solidFill>
            <a:srgbClr val="15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  <a:ea typeface="Malgun Gothic"/>
              </a:rPr>
              <a:t>제목</a:t>
            </a:r>
          </a:p>
        </p:txBody>
      </p:sp>
      <p:sp>
        <p:nvSpPr>
          <p:cNvPr id="6" name="Rectangle 5"/>
          <p:cNvSpPr/>
          <p:nvPr/>
        </p:nvSpPr>
        <p:spPr>
          <a:xfrm>
            <a:off x="2468880" y="1234440"/>
            <a:ext cx="9144000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51760" y="1307592"/>
            <a:ext cx="8869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>A Q-Learning based Routing Optimization Model
in a Software Defined Network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86000"/>
            <a:ext cx="1828800" cy="822960"/>
          </a:xfrm>
          <a:prstGeom prst="rect">
            <a:avLst/>
          </a:prstGeom>
          <a:solidFill>
            <a:srgbClr val="15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28600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  <a:ea typeface="Malgun Gothic"/>
              </a:rPr>
              <a:t>저자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8880" y="2286000"/>
            <a:ext cx="9144000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51760" y="2359152"/>
            <a:ext cx="8869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>Yupeng Wang, Xin Zhou, Xinyue Fan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337560"/>
            <a:ext cx="1828800" cy="822960"/>
          </a:xfrm>
          <a:prstGeom prst="rect">
            <a:avLst/>
          </a:prstGeom>
          <a:solidFill>
            <a:srgbClr val="15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33756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  <a:ea typeface="Malgun Gothic"/>
              </a:rPr>
              <a:t>소속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80" y="3337560"/>
            <a:ext cx="9144000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51760" y="3410712"/>
            <a:ext cx="8869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>Shenyang Aerospace University /
Liaoning General Aviation Academy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389120"/>
            <a:ext cx="1828800" cy="822960"/>
          </a:xfrm>
          <a:prstGeom prst="rect">
            <a:avLst/>
          </a:prstGeom>
          <a:solidFill>
            <a:srgbClr val="15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38912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  <a:ea typeface="Malgun Gothic"/>
              </a:rPr>
              <a:t>학술대회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68880" y="4389120"/>
            <a:ext cx="9144000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51760" y="4462272"/>
            <a:ext cx="8869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>IEEE 19th Int'l Conference on Embedded
and Ubiquitous Computing (EUC)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440679"/>
            <a:ext cx="1828800" cy="822960"/>
          </a:xfrm>
          <a:prstGeom prst="rect">
            <a:avLst/>
          </a:prstGeom>
          <a:solidFill>
            <a:srgbClr val="15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440679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  <a:ea typeface="Malgun Gothic"/>
              </a:rPr>
              <a:t>발표년도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68880" y="5440679"/>
            <a:ext cx="9144000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51760" y="5513831"/>
            <a:ext cx="8869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>2021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5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  <a:ea typeface="Malgun Gothic"/>
              </a:rPr>
              <a:t>핵심 문제 정의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486400" cy="5212080"/>
          </a:xfrm>
          <a:prstGeom prst="rect">
            <a:avLst/>
          </a:prstGeom>
          <a:solidFill>
            <a:srgbClr val="EBF2FF"/>
          </a:solidFill>
          <a:ln w="25400">
            <a:solidFill>
              <a:srgbClr val="29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2969B0"/>
                </a:solidFill>
                <a:latin typeface="Calibri"/>
                <a:ea typeface="Malgun Gothic"/>
              </a:rPr>
              <a:t>[기존 네트워크의 한계]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>1. 제어 평면 + 포워딩 평면이 하드웨어에 통합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 xml:space="preserve">    -&gt; 네트워크 혁신 및 업데이트 어려움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/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>2. 중앙 집중식 QoS 배포 전략 구현 곤란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/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>3. 기존 최단경로(Shortest Path) 알고리즘은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 xml:space="preserve">    대역폭과 지연을 동시에 고려하지 못함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/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>4. 휴리스틱 알고리즘은 계산 복잡도가 높고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 xml:space="preserve">    많은 저장 공간 필요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188720"/>
            <a:ext cx="5486400" cy="5212080"/>
          </a:xfrm>
          <a:prstGeom prst="rect">
            <a:avLst/>
          </a:prstGeom>
          <a:solidFill>
            <a:srgbClr val="E8F8EB"/>
          </a:solidFill>
          <a:ln w="254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34A853"/>
                </a:solidFill>
                <a:latin typeface="Calibri"/>
                <a:ea typeface="Malgun Gothic"/>
              </a:rPr>
              <a:t>[본 논문이 해결하고자 하는 문제]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>SDN 환경에서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 xml:space="preserve">  - 라우터 간 비균일(non-identical) 대역폭과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 xml:space="preserve">  - 이질적(heterogeneous) QoS 패킷을 고려하여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/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>전송 지연(Delay)을 최소화하면서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 xml:space="preserve">  - 사용자 QoS를 보장하는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/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>지능형 라우팅 최적화 알고리즘 개발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 xml:space="preserve">  -&gt; Q-Learning 기반 접근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/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>핵심 기여: 새로운 보상 함수(Reward Function) 제안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5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  <a:ea typeface="Malgun Gothic"/>
              </a:rPr>
              <a:t>제안된 해결 방법: SDN + Q-Learning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836676" y="1234440"/>
            <a:ext cx="3200400" cy="1645920"/>
          </a:xfrm>
          <a:prstGeom prst="rect">
            <a:avLst/>
          </a:prstGeom>
          <a:solidFill>
            <a:srgbClr val="29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3836" y="12801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CC00"/>
                </a:solidFill>
                <a:latin typeface="Calibri"/>
                <a:ea typeface="Malgun Gothic"/>
              </a:rP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3836" y="18288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  <a:ea typeface="Malgun Gothic"/>
              </a:rPr>
              <a:t>SDN Controller (Agent)</a:t>
            </a:r>
          </a:p>
        </p:txBody>
      </p:sp>
      <p:sp>
        <p:nvSpPr>
          <p:cNvPr id="7" name="Rectangle 6"/>
          <p:cNvSpPr/>
          <p:nvPr/>
        </p:nvSpPr>
        <p:spPr>
          <a:xfrm>
            <a:off x="836676" y="2971800"/>
            <a:ext cx="3200400" cy="1188720"/>
          </a:xfrm>
          <a:prstGeom prst="rect">
            <a:avLst/>
          </a:prstGeom>
          <a:solidFill>
            <a:srgbClr val="F5F7FA"/>
          </a:solidFill>
          <a:ln w="25400">
            <a:solidFill>
              <a:srgbClr val="29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3836" y="306324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C3C3C"/>
                </a:solidFill>
                <a:latin typeface="Calibri"/>
                <a:ea typeface="Malgun Gothic"/>
              </a:rPr>
              <a:t>네트워크 전체 정보 수집
(토폴로지, 대역폭, 트래픽)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82796" y="18288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787878"/>
                </a:solidFill>
                <a:latin typeface="Calibri"/>
                <a:ea typeface="Malgun Gothic"/>
              </a:rPr>
              <a:t>&gt;&gt;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94276" y="1234440"/>
            <a:ext cx="3200400" cy="1645920"/>
          </a:xfrm>
          <a:prstGeom prst="rect">
            <a:avLst/>
          </a:prstGeom>
          <a:solidFill>
            <a:srgbClr val="15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1436" y="12801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CC00"/>
                </a:solidFill>
                <a:latin typeface="Calibri"/>
                <a:ea typeface="Malgun Gothic"/>
              </a:rPr>
              <a:t>STEP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1436" y="18288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  <a:ea typeface="Malgun Gothic"/>
              </a:rPr>
              <a:t>Q-Learning 알고리즘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94276" y="2971800"/>
            <a:ext cx="3200400" cy="1188720"/>
          </a:xfrm>
          <a:prstGeom prst="rect">
            <a:avLst/>
          </a:prstGeom>
          <a:solidFill>
            <a:srgbClr val="F5F7FA"/>
          </a:solidFill>
          <a:ln w="25400">
            <a:solidFill>
              <a:srgbClr val="152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1436" y="306324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C3C3C"/>
                </a:solidFill>
                <a:latin typeface="Calibri"/>
                <a:ea typeface="Malgun Gothic"/>
              </a:rPr>
              <a:t>상태에 따른 최적 라우팅
행동 결정 (ε-greedy)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0396" y="18288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787878"/>
                </a:solidFill>
                <a:latin typeface="Calibri"/>
                <a:ea typeface="Malgun Gothic"/>
              </a:rPr>
              <a:t>&gt;&gt;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51875" y="1234440"/>
            <a:ext cx="3200400" cy="164592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9036" y="12801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CC00"/>
                </a:solidFill>
                <a:latin typeface="Calibri"/>
                <a:ea typeface="Malgun Gothic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9036" y="18288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  <a:ea typeface="Malgun Gothic"/>
              </a:rPr>
              <a:t>Q-Table 수렴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51875" y="2971800"/>
            <a:ext cx="3200400" cy="1188720"/>
          </a:xfrm>
          <a:prstGeom prst="rect">
            <a:avLst/>
          </a:prstGeom>
          <a:solidFill>
            <a:srgbClr val="F5F7FA"/>
          </a:solidFill>
          <a:ln w="254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9036" y="306324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C3C3C"/>
                </a:solidFill>
                <a:latin typeface="Calibri"/>
                <a:ea typeface="Malgun Gothic"/>
              </a:rPr>
              <a:t>최적 라우팅 테이블
생성 및 적용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480560"/>
            <a:ext cx="11274552" cy="2011680"/>
          </a:xfrm>
          <a:prstGeom prst="rect">
            <a:avLst/>
          </a:prstGeom>
          <a:solidFill>
            <a:srgbClr val="FFFAE1"/>
          </a:solidFill>
          <a:ln w="19050">
            <a:solidFill>
              <a:srgbClr val="DCB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572000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 i="0">
                <a:solidFill>
                  <a:srgbClr val="152852"/>
                </a:solidFill>
                <a:latin typeface="Calibri"/>
                <a:ea typeface="Malgun Gothic"/>
              </a:rPr>
              <a:t>[핵심 아이디어]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/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>SDN Controller가 Agent로서 네트워크 환경과 상호작용하며 Q-Learning으로 학습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>대역폭(Bandwidth)과 전송 지연(Delay)을 동시에 고려한 최적 라우팅 정책(Q-Table) 도출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/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>Q-Table 수렴 후, 데이터 패킷은 Q-Table에 따라 포워딩 -&gt; 전송 지연 최소화 + QoS 보장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5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  <a:ea typeface="Malgun Gothic"/>
              </a:rPr>
              <a:t>강화학습 모델 (1) : Agent &amp; State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394960" cy="3200000"/>
          </a:xfrm>
          <a:prstGeom prst="rect">
            <a:avLst/>
          </a:prstGeom>
          <a:solidFill>
            <a:srgbClr val="EBF2FF"/>
          </a:solidFill>
          <a:ln w="25400">
            <a:solidFill>
              <a:srgbClr val="29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2969B0"/>
                </a:solidFill>
                <a:latin typeface="Calibri"/>
                <a:ea typeface="Malgun Gothic"/>
              </a:rPr>
              <a:t>Agent (에이전트) = SDN Controller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4937760" cy="2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>[역할]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 xml:space="preserve">  - 네트워크 전체 상태(Global View) 지속 감지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 xml:space="preserve">  - Q-Learning 기반 라우팅 의사결정 수행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 xml:space="preserve">  - Flow Table을 스위치에 배포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/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>[특징]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 xml:space="preserve">  - 분산 라우터가 아닌 중앙집중식 컨트롤러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 xml:space="preserve">  - 환경과 반복 상호작용하며 Q-Table 학습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 xml:space="preserve">  - 학습 완료 후 최적 정책으로 라우팅 수행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5352" y="1188720"/>
            <a:ext cx="5394960" cy="3200000"/>
          </a:xfrm>
          <a:prstGeom prst="rect">
            <a:avLst/>
          </a:prstGeom>
          <a:solidFill>
            <a:srgbClr val="E8F8EB"/>
          </a:solidFill>
          <a:ln w="254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28232" y="12801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34A853"/>
                </a:solidFill>
                <a:latin typeface="Calibri"/>
                <a:ea typeface="Malgun Gothic"/>
              </a:rPr>
              <a:t>State (상태)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9672" y="1920240"/>
            <a:ext cx="4937760" cy="2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>[수식]  s(h,k) = i,    i = [1, 10]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/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>[의미]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 xml:space="preserve">  - 현재 트래픽 k가 위치한 스위치 번호 i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 xml:space="preserve">  - 홉(hop) h에서의 네트워크 상태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/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>[포함 정보]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 xml:space="preserve">  - 네트워크 토폴로지 행렬 Y[i,j]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 xml:space="preserve">    (Y[i,j]=1: 연결  /  Y[i,j]!=1: 미연결)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 xml:space="preserve">  - 링크별 가용 대역폭 Ba (0~1 정규화)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 xml:space="preserve">  - 데이터 패킷 전송량 T</a:t>
            </a:r>
          </a:p>
        </p:txBody>
      </p:sp>
      <p:sp>
        <p:nvSpPr>
          <p:cNvPr id="30" name="SepLine"/>
          <p:cNvSpPr/>
          <p:nvPr/>
        </p:nvSpPr>
        <p:spPr>
          <a:xfrm>
            <a:off x="457200" y="4500000"/>
            <a:ext cx="11274552" cy="190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RLLabel"/>
          <p:cNvSpPr txBox="1"/>
          <p:nvPr/>
        </p:nvSpPr>
        <p:spPr>
          <a:xfrm>
            <a:off x="457200" y="4550000"/>
            <a:ext cx="11274552" cy="3500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ko-KR" sz="1300" b="1" dirty="0">
                <a:solidFill>
                  <a:srgbClr val="152852"/>
                </a:solidFill>
                <a:latin typeface="Calibri"/>
                <a:ea typeface="Malgun Gothic"/>
              </a:rPr>
              <a:t>[ 강화학습 상호작용 구조 ]</a:t>
            </a:r>
          </a:p>
        </p:txBody>
      </p:sp>
      <p:sp>
        <p:nvSpPr>
          <p:cNvPr id="32" name="AgentBox"/>
          <p:cNvSpPr/>
          <p:nvPr/>
        </p:nvSpPr>
        <p:spPr>
          <a:xfrm>
            <a:off x="457200" y="5200000"/>
            <a:ext cx="2743200" cy="91440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>
            <a:noFill/>
          </a:ln>
        </p:spPr>
        <p:txBody>
          <a:bodyPr rtlCol="0" anchor="ctr"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ko-KR" sz="1400" b="1" dirty="0">
                <a:solidFill>
                  <a:srgbClr val="FFFFFF"/>
                </a:solidFill>
                <a:latin typeface="Calibri"/>
                <a:ea typeface="Malgun Gothic"/>
              </a:rPr>
              <a:t>SDN Controller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ko-KR" sz="1200" b="1" dirty="0">
                <a:solidFill>
                  <a:srgbClr val="FFFFFF"/>
                </a:solidFill>
                <a:latin typeface="Calibri"/>
                <a:ea typeface="Malgun Gothic"/>
              </a:rPr>
              <a:t>(Agent)</a:t>
            </a:r>
          </a:p>
        </p:txBody>
      </p:sp>
      <p:sp>
        <p:nvSpPr>
          <p:cNvPr id="33" name="EnvBox"/>
          <p:cNvSpPr/>
          <p:nvPr/>
        </p:nvSpPr>
        <p:spPr>
          <a:xfrm>
            <a:off x="8988552" y="5200000"/>
            <a:ext cx="2743200" cy="914400"/>
          </a:xfrm>
          <a:prstGeom prst="roundRect">
            <a:avLst>
              <a:gd name="adj" fmla="val 20000"/>
            </a:avLst>
          </a:prstGeom>
          <a:solidFill>
            <a:srgbClr val="1A6B3A"/>
          </a:solidFill>
          <a:ln>
            <a:noFill/>
          </a:ln>
        </p:spPr>
        <p:txBody>
          <a:bodyPr rtlCol="0" anchor="ctr"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ko-KR" sz="1400" b="1" dirty="0">
                <a:solidFill>
                  <a:srgbClr val="FFFFFF"/>
                </a:solidFill>
                <a:latin typeface="Calibri"/>
                <a:ea typeface="Malgun Gothic"/>
              </a:rPr>
              <a:t>네트워크 환경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ko-KR" sz="1200" b="1" dirty="0">
                <a:solidFill>
                  <a:srgbClr val="FFFFFF"/>
                </a:solidFill>
                <a:latin typeface="Calibri"/>
                <a:ea typeface="Malgun Gothic"/>
              </a:rPr>
              <a:t>(Switches)</a:t>
            </a:r>
          </a:p>
        </p:txBody>
      </p:sp>
      <p:sp>
        <p:nvSpPr>
          <p:cNvPr id="34" name="ActionArrow"/>
          <p:cNvSpPr/>
          <p:nvPr/>
        </p:nvSpPr>
        <p:spPr>
          <a:xfrm>
            <a:off x="3400000" y="4780000"/>
            <a:ext cx="5400000" cy="40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969B0"/>
          </a:solidFill>
          <a:ln>
            <a:noFill/>
          </a:ln>
        </p:spPr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ko-KR" sz="1200" b="1" dirty="0">
                <a:solidFill>
                  <a:srgbClr val="FFFFFF"/>
                </a:solidFill>
                <a:latin typeface="Calibri"/>
                <a:ea typeface="Malgun Gothic"/>
              </a:rPr>
              <a:t>Action : 다음 홉(스위치) 선택</a:t>
            </a:r>
          </a:p>
        </p:txBody>
      </p:sp>
      <p:sp>
        <p:nvSpPr>
          <p:cNvPr id="35" name="RewardArrow"/>
          <p:cNvSpPr/>
          <p:nvPr/>
        </p:nvSpPr>
        <p:spPr>
          <a:xfrm>
            <a:off x="3400000" y="5800000"/>
            <a:ext cx="5400000" cy="40000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217A4C"/>
          </a:solidFill>
          <a:ln>
            <a:noFill/>
          </a:ln>
        </p:spPr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ko-KR" sz="1200" b="1" dirty="0">
                <a:solidFill>
                  <a:srgbClr val="FFFFFF"/>
                </a:solidFill>
                <a:latin typeface="Calibri"/>
                <a:ea typeface="Malgun Gothic"/>
              </a:rPr>
              <a:t>State / Reward : 네트워크 상태 + 지연·대역폭 기반 보상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5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  <a:ea typeface="Malgun Gothic"/>
              </a:rPr>
              <a:t>강화학습 모델 (2) : Action &amp; Reward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486400" cy="2286000"/>
          </a:xfrm>
          <a:prstGeom prst="rect">
            <a:avLst/>
          </a:prstGeom>
          <a:solidFill>
            <a:srgbClr val="FFF5E6"/>
          </a:solidFill>
          <a:ln w="25400">
            <a:solidFill>
              <a:srgbClr val="C8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C86400"/>
                </a:solidFill>
                <a:latin typeface="Calibri"/>
                <a:ea typeface="Malgun Gothic"/>
              </a:rPr>
              <a:t>Action (행동)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 i="0">
                <a:solidFill>
                  <a:srgbClr val="3C3C3C"/>
                </a:solidFill>
                <a:latin typeface="Calibri"/>
                <a:ea typeface="Malgun Gothic"/>
              </a:rPr>
              <a:t>[수식]  a(h,k) = i,  Y[i,h]=1 조건에서만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3C3C3C"/>
                </a:solidFill>
                <a:latin typeface="Calibri"/>
                <a:ea typeface="Malgun Gothic"/>
              </a:rPr>
              <a:t xml:space="preserve">  - 다음 홉(hop)으로 전달할 스위치 번호 선택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3C3C3C"/>
                </a:solidFill>
                <a:latin typeface="Calibri"/>
                <a:ea typeface="Malgun Gothic"/>
              </a:rPr>
              <a:t xml:space="preserve">  - 현재 스위치와 연결된 스위치만 선택 가능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3C3C3C"/>
                </a:solidFill>
                <a:latin typeface="Calibri"/>
                <a:ea typeface="Malgun Gothic"/>
              </a:rPr>
              <a:t xml:space="preserve">  - 전략: epsilon-greedy (탐험 + 활용)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611880"/>
            <a:ext cx="5486400" cy="2788920"/>
          </a:xfrm>
          <a:prstGeom prst="rect">
            <a:avLst/>
          </a:prstGeom>
          <a:solidFill>
            <a:srgbClr val="EBF2FF"/>
          </a:solidFill>
          <a:ln w="25400">
            <a:solidFill>
              <a:srgbClr val="29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7033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2969B0"/>
                </a:solidFill>
                <a:latin typeface="Calibri"/>
                <a:ea typeface="Malgun Gothic"/>
              </a:rPr>
              <a:t>Reward (보상) - 논문의 핵심 기여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6052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 i="0">
                <a:solidFill>
                  <a:srgbClr val="3C3C3C"/>
                </a:solidFill>
                <a:latin typeface="Calibri"/>
                <a:ea typeface="Malgun Gothic"/>
              </a:rPr>
              <a:t>[제안 보상 함수]  (미연결 시 음수 보상)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3C3C3C"/>
                </a:solidFill>
                <a:latin typeface="Calibri"/>
                <a:ea typeface="Malgun Gothic"/>
              </a:rPr>
              <a:t xml:space="preserve">  R = B1*(1 - delay) + B2*(Bmin/Ba)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3C3C3C"/>
                </a:solidFill>
                <a:latin typeface="Calibri"/>
                <a:ea typeface="Malgun Gothic"/>
              </a:rPr>
              <a:t xml:space="preserve">  [단, Ba &lt; Bmin 이면 R = B3*(Ba - Bmin)]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3C3C3C"/>
                </a:solidFill>
                <a:latin typeface="Calibri"/>
                <a:ea typeface="Malgun Gothic"/>
              </a:rPr>
              <a:t/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3C3C3C"/>
                </a:solidFill>
                <a:latin typeface="Calibri"/>
                <a:ea typeface="Malgun Gothic"/>
              </a:rPr>
              <a:t xml:space="preserve">  delay 작을수록, Bmin/Ba 높을수록 -&gt; 보상 증가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3C3C3C"/>
                </a:solidFill>
                <a:latin typeface="Calibri"/>
                <a:ea typeface="Malgun Gothic"/>
              </a:rPr>
              <a:t xml:space="preserve">  B1, B2 : QoS 튜닝 가중치 (조절 가능)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188720"/>
            <a:ext cx="5486400" cy="5212080"/>
          </a:xfrm>
          <a:prstGeom prst="rect">
            <a:avLst/>
          </a:prstGeom>
          <a:solidFill>
            <a:srgbClr val="F5F7FA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280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152852"/>
                </a:solidFill>
                <a:latin typeface="Calibri"/>
                <a:ea typeface="Malgun Gothic"/>
              </a:rPr>
              <a:t>[보상 함수 설계 의도]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82880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 i="0">
                <a:solidFill>
                  <a:srgbClr val="3C3C3C"/>
                </a:solidFill>
                <a:latin typeface="Calibri"/>
                <a:ea typeface="Malgun Gothic"/>
              </a:rPr>
              <a:t>기존 보상 함수의 한계: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3C3C3C"/>
                </a:solidFill>
                <a:latin typeface="Calibri"/>
                <a:ea typeface="Malgun Gothic"/>
              </a:rPr>
              <a:t xml:space="preserve">  - 단순 홉 수 또는 링크 비용만 고려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3C3C3C"/>
                </a:solidFill>
                <a:latin typeface="Calibri"/>
                <a:ea typeface="Malgun Gothic"/>
              </a:rPr>
              <a:t xml:space="preserve">  -&gt; 실제 대역폭/지연 무시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3C3C3C"/>
                </a:solidFill>
                <a:latin typeface="Calibri"/>
                <a:ea typeface="Malgun Gothic"/>
              </a:rPr>
              <a:t/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3C3C3C"/>
                </a:solidFill>
                <a:latin typeface="Calibri"/>
                <a:ea typeface="Malgun Gothic"/>
              </a:rPr>
              <a:t>제안 보상 함수의 3가지 고려 사항: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3C3C3C"/>
                </a:solidFill>
                <a:latin typeface="Calibri"/>
                <a:ea typeface="Malgun Gothic"/>
              </a:rPr>
              <a:t/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3C3C3C"/>
                </a:solidFill>
                <a:latin typeface="Calibri"/>
                <a:ea typeface="Malgun Gothic"/>
              </a:rPr>
              <a:t xml:space="preserve">  (1) delay 최소화: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3C3C3C"/>
                </a:solidFill>
                <a:latin typeface="Calibri"/>
                <a:ea typeface="Malgun Gothic"/>
              </a:rPr>
              <a:t xml:space="preserve">      delay = T / (SE * Ba)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3C3C3C"/>
                </a:solidFill>
                <a:latin typeface="Calibri"/>
                <a:ea typeface="Malgun Gothic"/>
              </a:rPr>
              <a:t xml:space="preserve">      (T: 데이터량, SE: 스펙트럼효율, Ba: 가용대역폭)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3C3C3C"/>
                </a:solidFill>
                <a:latin typeface="Calibri"/>
                <a:ea typeface="Malgun Gothic"/>
              </a:rPr>
              <a:t/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3C3C3C"/>
                </a:solidFill>
                <a:latin typeface="Calibri"/>
                <a:ea typeface="Malgun Gothic"/>
              </a:rPr>
              <a:t xml:space="preserve">  (2) 대역폭 활용률 최대화: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3C3C3C"/>
                </a:solidFill>
                <a:latin typeface="Calibri"/>
                <a:ea typeface="Malgun Gothic"/>
              </a:rPr>
              <a:t xml:space="preserve">      Bmin/Ba (요구 대역폭 대비 가용 비율)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3C3C3C"/>
                </a:solidFill>
                <a:latin typeface="Calibri"/>
                <a:ea typeface="Malgun Gothic"/>
              </a:rPr>
              <a:t/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3C3C3C"/>
                </a:solidFill>
                <a:latin typeface="Calibri"/>
                <a:ea typeface="Malgun Gothic"/>
              </a:rPr>
              <a:t xml:space="preserve">  (3) 경로 불가 시 음수 보상 -&gt; 자동 회피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5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  <a:ea typeface="Malgun Gothic"/>
              </a:rPr>
              <a:t>Policy Evaluation - Q값 업데이트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4552" cy="1097280"/>
          </a:xfrm>
          <a:prstGeom prst="rect">
            <a:avLst/>
          </a:prstGeom>
          <a:solidFill>
            <a:srgbClr val="15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  <a:ea typeface="Malgun Gothic"/>
              </a:rPr>
              <a:t>Q(s, a) &lt;- Q(s, a) + a [ R + g * max Q(s', a') - Q(s, a) ]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514600"/>
            <a:ext cx="3657600" cy="822960"/>
          </a:xfrm>
          <a:prstGeom prst="rect">
            <a:avLst/>
          </a:prstGeom>
          <a:solidFill>
            <a:srgbClr val="29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65176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  <a:ea typeface="Malgun Gothic"/>
              </a:rPr>
              <a:t>a  (학습률, 0&lt;a&lt;1)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2514600"/>
            <a:ext cx="7498079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2606040"/>
            <a:ext cx="7223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>새로운 정보가 기존 Q값을
덮어쓰는 정도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520440"/>
            <a:ext cx="3657600" cy="822960"/>
          </a:xfrm>
          <a:prstGeom prst="rect">
            <a:avLst/>
          </a:prstGeom>
          <a:solidFill>
            <a:srgbClr val="29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65760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  <a:ea typeface="Malgun Gothic"/>
              </a:rPr>
              <a:t>g  (할인계수, 0&lt;g&lt;1)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3520440"/>
            <a:ext cx="7498079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3611880"/>
            <a:ext cx="7223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>미래 보상의 중요도
g가 클수록 장기 보상 중시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526280"/>
            <a:ext cx="3657600" cy="822960"/>
          </a:xfrm>
          <a:prstGeom prst="rect">
            <a:avLst/>
          </a:prstGeom>
          <a:solidFill>
            <a:srgbClr val="29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66344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  <a:ea typeface="Malgun Gothic"/>
              </a:rPr>
              <a:t>R(h,k)  (즉시 보상)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4526280"/>
            <a:ext cx="7498079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4617720"/>
            <a:ext cx="7223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>보상 함수에 의해 결정
홉 h, 트래픽 k의 보상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532120"/>
            <a:ext cx="3657600" cy="822960"/>
          </a:xfrm>
          <a:prstGeom prst="rect">
            <a:avLst/>
          </a:prstGeom>
          <a:solidFill>
            <a:srgbClr val="29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66928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  <a:ea typeface="Malgun Gothic"/>
              </a:rPr>
              <a:t>max Q(s', a')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0" y="5532120"/>
            <a:ext cx="7498079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5623560"/>
            <a:ext cx="7223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>다음 상태에서의 최대 Q값
-&gt; 최적 미래 기대값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6263640"/>
            <a:ext cx="11274552" cy="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17220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52852"/>
                </a:solidFill>
                <a:latin typeface="Calibri"/>
                <a:ea typeface="Malgun Gothic"/>
              </a:rPr>
              <a:t>-&gt; 매 행동 후 Q값을 갱신하여 현재 정책의 품질을 지속적으로 평가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5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  <a:ea typeface="Malgun Gothic"/>
              </a:rPr>
              <a:t>Policy Control - epsilon-greedy 행동 전략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486400" cy="5212080"/>
          </a:xfrm>
          <a:prstGeom prst="rect">
            <a:avLst/>
          </a:prstGeom>
          <a:solidFill>
            <a:srgbClr val="EBF2FF"/>
          </a:solidFill>
          <a:ln w="25400">
            <a:solidFill>
              <a:srgbClr val="29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2969B0"/>
                </a:solidFill>
                <a:latin typeface="Calibri"/>
                <a:ea typeface="Malgun Gothic"/>
              </a:rPr>
              <a:t>[행동 전략 수식]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029200" cy="2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>pi(a | s) = P(a = a* | s(h,k) = s)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/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>epsilon-greedy 전략: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 xml:space="preserve">  - 확률 epsilon     -&gt; 무작위 행동 (탐험)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 xml:space="preserve">  - 확률 1-epsilon  -&gt; 최적 행동 (활용)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/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>실험 결과 최적 값: epsilon = 0.3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 xml:space="preserve">  (활용에 집중할수록 지연 최소화)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/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>수렴 조건: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 xml:space="preserve">  Q-Table이 더 이상 변하지 않을 때까지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 xml:space="preserve">  반복 학습 -&gt; 최적 정책 도출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188720"/>
            <a:ext cx="5486400" cy="5212080"/>
          </a:xfrm>
          <a:prstGeom prst="rect">
            <a:avLst/>
          </a:prstGeom>
          <a:solidFill>
            <a:srgbClr val="1E1E28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82F082"/>
                </a:solidFill>
                <a:latin typeface="Calibri"/>
                <a:ea typeface="Malgun Gothic"/>
              </a:rPr>
              <a:t>Algorithm: Q-Learning Routing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5029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FFCC00"/>
                </a:solidFill>
                <a:latin typeface="Calibri"/>
                <a:ea typeface="Malgun Gothic"/>
              </a:rPr>
              <a:t xml:space="preserve">1  </a:t>
            </a:r>
            <a:r>
              <a:rPr sz="1400" b="0" i="0">
                <a:solidFill>
                  <a:srgbClr val="E6FAE6"/>
                </a:solidFill>
                <a:latin typeface="Calibri"/>
                <a:ea typeface="Malgun Gothic"/>
              </a:rPr>
              <a:t>Q(s, a) 테이블 초기화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FFCC00"/>
                </a:solidFill>
                <a:latin typeface="Calibri"/>
                <a:ea typeface="Malgun Gothic"/>
              </a:rPr>
              <a:t xml:space="preserve">2  </a:t>
            </a:r>
            <a:r>
              <a:rPr sz="1400" b="0" i="0">
                <a:solidFill>
                  <a:srgbClr val="E6FAE6"/>
                </a:solidFill>
                <a:latin typeface="Calibri"/>
                <a:ea typeface="Malgun Gothic"/>
              </a:rPr>
              <a:t>홉 h, 상태 s(h,k) 에서: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FFCC00"/>
                </a:solidFill>
                <a:latin typeface="Calibri"/>
                <a:ea typeface="Malgun Gothic"/>
              </a:rPr>
              <a:t xml:space="preserve">3  </a:t>
            </a:r>
            <a:r>
              <a:rPr sz="1400" b="0" i="0">
                <a:solidFill>
                  <a:srgbClr val="E6FAE6"/>
                </a:solidFill>
                <a:latin typeface="Calibri"/>
                <a:ea typeface="Malgun Gothic"/>
              </a:rPr>
              <a:t xml:space="preserve">  a(h,k) &lt;- epsilon-greedy로 행동 선택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FFCC00"/>
                </a:solidFill>
                <a:latin typeface="Calibri"/>
                <a:ea typeface="Malgun Gothic"/>
              </a:rPr>
              <a:t xml:space="preserve">4  </a:t>
            </a:r>
            <a:r>
              <a:rPr sz="1400" b="0" i="0">
                <a:solidFill>
                  <a:srgbClr val="E6FAE6"/>
                </a:solidFill>
                <a:latin typeface="Calibri"/>
                <a:ea typeface="Malgun Gothic"/>
              </a:rPr>
              <a:t xml:space="preserve">  행동 수행 -&gt; 보상 R(h,k) 계산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FFCC00"/>
                </a:solidFill>
                <a:latin typeface="Calibri"/>
                <a:ea typeface="Malgun Gothic"/>
              </a:rPr>
              <a:t xml:space="preserve">5  </a:t>
            </a:r>
            <a:r>
              <a:rPr sz="1400" b="0" i="0">
                <a:solidFill>
                  <a:srgbClr val="E6FAE6"/>
                </a:solidFill>
                <a:latin typeface="Calibri"/>
                <a:ea typeface="Malgun Gothic"/>
              </a:rPr>
              <a:t xml:space="preserve">  다음 상태 s(h+1,k) 관찰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FFCC00"/>
                </a:solidFill>
                <a:latin typeface="Calibri"/>
                <a:ea typeface="Malgun Gothic"/>
              </a:rPr>
              <a:t xml:space="preserve">6  </a:t>
            </a:r>
            <a:r>
              <a:rPr sz="1400" b="0" i="0">
                <a:solidFill>
                  <a:srgbClr val="E6FAE6"/>
                </a:solidFill>
                <a:latin typeface="Calibri"/>
                <a:ea typeface="Malgun Gothic"/>
              </a:rPr>
              <a:t xml:space="preserve">  Q값 업데이트 (업데이트 수식 적용)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FFCC00"/>
                </a:solidFill>
                <a:latin typeface="Calibri"/>
                <a:ea typeface="Malgun Gothic"/>
              </a:rPr>
              <a:t xml:space="preserve">7  </a:t>
            </a:r>
            <a:r>
              <a:rPr sz="1400" b="0" i="0">
                <a:solidFill>
                  <a:srgbClr val="E6FAE6"/>
                </a:solidFill>
                <a:latin typeface="Calibri"/>
                <a:ea typeface="Malgun Gothic"/>
              </a:rPr>
              <a:t xml:space="preserve">  h+1로 이동하여 반복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FFCC00"/>
                </a:solidFill>
                <a:latin typeface="Calibri"/>
                <a:ea typeface="Malgun Gothic"/>
              </a:rPr>
              <a:t xml:space="preserve">8  </a:t>
            </a:r>
            <a:r>
              <a:rPr sz="1400" b="0" i="0">
                <a:solidFill>
                  <a:srgbClr val="E6FAE6"/>
                </a:solidFill>
                <a:latin typeface="Calibri"/>
                <a:ea typeface="Malgun Gothic"/>
              </a:rPr>
              <a:t>Q-Table 수렴 시 종료</a:t>
            </a:r>
          </a:p>
        </p:txBody>
      </p:sp>
      <p:sp>
        <p:nvSpPr>
          <p:cNvPr id="40" name="EpsLabel"/>
          <p:cNvSpPr txBox="1"/>
          <p:nvPr/>
        </p:nvSpPr>
        <p:spPr>
          <a:xfrm>
            <a:off x="457200" y="4420000"/>
            <a:ext cx="5394960" cy="3500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ko-KR" sz="1200" b="1" dirty="0">
                <a:solidFill>
                  <a:srgbClr val="152852"/>
                </a:solidFill>
                <a:latin typeface="Calibri"/>
                <a:ea typeface="Malgun Gothic"/>
              </a:rPr>
              <a:t>[ ε-greedy 행동 선택 흐름 ]</a:t>
            </a:r>
          </a:p>
        </p:txBody>
      </p:sp>
      <p:sp>
        <p:nvSpPr>
          <p:cNvPr id="41" name="EpsStart"/>
          <p:cNvSpPr/>
          <p:nvPr/>
        </p:nvSpPr>
        <p:spPr>
          <a:xfrm>
            <a:off x="1828800" y="4860000"/>
            <a:ext cx="1828800" cy="548640"/>
          </a:xfrm>
          <a:prstGeom prst="roundRect">
            <a:avLst>
              <a:gd name="adj" fmla="val 20000"/>
            </a:avLst>
          </a:prstGeom>
          <a:solidFill>
            <a:srgbClr val="152852"/>
          </a:solidFill>
          <a:ln>
            <a:noFill/>
          </a:ln>
        </p:spPr>
        <p:txBody>
          <a:bodyPr rtlCol="0" anchor="ctr"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ko-KR" sz="1100" b="1" dirty="0">
                <a:solidFill>
                  <a:srgbClr val="FFFFFF"/>
                </a:solidFill>
                <a:latin typeface="Calibri"/>
                <a:ea typeface="Malgun Gothic"/>
              </a:rPr>
              <a:t>현재 상태 s(h,k)</a:t>
            </a:r>
          </a:p>
        </p:txBody>
      </p:sp>
      <p:sp>
        <p:nvSpPr>
          <p:cNvPr id="42" name="EpsDiamond"/>
          <p:cNvSpPr/>
          <p:nvPr/>
        </p:nvSpPr>
        <p:spPr>
          <a:xfrm>
            <a:off x="1554480" y="5565000"/>
            <a:ext cx="2377440" cy="548640"/>
          </a:xfrm>
          <a:prstGeom prst="diamond">
            <a:avLst/>
          </a:prstGeom>
          <a:solidFill>
            <a:srgbClr val="C05000"/>
          </a:solidFill>
          <a:ln>
            <a:noFill/>
          </a:ln>
        </p:spPr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ko-KR" sz="1100" b="1" dirty="0">
                <a:solidFill>
                  <a:srgbClr val="FFFFFF"/>
                </a:solidFill>
                <a:latin typeface="Calibri"/>
                <a:ea typeface="Malgun Gothic"/>
              </a:rPr>
              <a:t>random() &lt; ε ?</a:t>
            </a:r>
          </a:p>
        </p:txBody>
      </p:sp>
      <p:sp>
        <p:nvSpPr>
          <p:cNvPr id="43" name="EpsYes"/>
          <p:cNvSpPr/>
          <p:nvPr/>
        </p:nvSpPr>
        <p:spPr>
          <a:xfrm>
            <a:off x="548640" y="6250000"/>
            <a:ext cx="2194560" cy="548640"/>
          </a:xfrm>
          <a:prstGeom prst="roundRect">
            <a:avLst>
              <a:gd name="adj" fmla="val 20000"/>
            </a:avLst>
          </a:prstGeom>
          <a:solidFill>
            <a:srgbClr val="C05000"/>
          </a:solidFill>
          <a:ln>
            <a:noFill/>
          </a:ln>
        </p:spPr>
        <p:txBody>
          <a:bodyPr rtlCol="0" anchor="ctr"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ko-KR" sz="1100" b="1" dirty="0">
                <a:solidFill>
                  <a:srgbClr val="FFFFFF"/>
                </a:solidFill>
                <a:latin typeface="Calibri"/>
                <a:ea typeface="Malgun Gothic"/>
              </a:rPr>
              <a:t>탐험 (Explore)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ko-KR" sz="1000" b="1" dirty="0">
                <a:solidFill>
                  <a:srgbClr val="FFFFFF"/>
                </a:solidFill>
                <a:latin typeface="Calibri"/>
                <a:ea typeface="Malgun Gothic"/>
              </a:rPr>
              <a:t>무작위 행동 선택</a:t>
            </a:r>
          </a:p>
        </p:txBody>
      </p:sp>
      <p:sp>
        <p:nvSpPr>
          <p:cNvPr id="44" name="EpsNo"/>
          <p:cNvSpPr/>
          <p:nvPr/>
        </p:nvSpPr>
        <p:spPr>
          <a:xfrm>
            <a:off x="2926080" y="6250000"/>
            <a:ext cx="2194560" cy="54864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>
            <a:noFill/>
          </a:ln>
        </p:spPr>
        <p:txBody>
          <a:bodyPr rtlCol="0" anchor="ctr"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ko-KR" sz="1100" b="1" dirty="0">
                <a:solidFill>
                  <a:srgbClr val="FFFFFF"/>
                </a:solidFill>
                <a:latin typeface="Calibri"/>
                <a:ea typeface="Malgun Gothic"/>
              </a:rPr>
              <a:t>활용 (Exploit)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ko-KR" sz="1000" b="1" dirty="0">
                <a:solidFill>
                  <a:srgbClr val="FFFFFF"/>
                </a:solidFill>
                <a:latin typeface="Calibri"/>
                <a:ea typeface="Malgun Gothic"/>
              </a:rPr>
              <a:t>max Q(s,a) 행동 선택</a:t>
            </a:r>
          </a:p>
        </p:txBody>
      </p:sp>
      <p:sp>
        <p:nvSpPr>
          <p:cNvPr id="45" name="YesLbl"/>
          <p:cNvSpPr txBox="1"/>
          <p:nvPr/>
        </p:nvSpPr>
        <p:spPr>
          <a:xfrm>
            <a:off x="548640" y="5679320"/>
            <a:ext cx="914400" cy="3200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ko-KR" sz="1000" b="1" dirty="0">
                <a:solidFill>
                  <a:srgbClr val="C05000"/>
                </a:solidFill>
                <a:latin typeface="Calibri"/>
                <a:ea typeface="Malgun Gothic"/>
              </a:rPr>
              <a:t>YES (ε)</a:t>
            </a:r>
          </a:p>
        </p:txBody>
      </p:sp>
      <p:sp>
        <p:nvSpPr>
          <p:cNvPr id="46" name="NoLbl"/>
          <p:cNvSpPr txBox="1"/>
          <p:nvPr/>
        </p:nvSpPr>
        <p:spPr>
          <a:xfrm>
            <a:off x="3474720" y="5679320"/>
            <a:ext cx="914400" cy="3200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ko-KR" sz="1000" b="1" dirty="0">
                <a:solidFill>
                  <a:srgbClr val="1E3A5F"/>
                </a:solidFill>
                <a:latin typeface="Calibri"/>
                <a:ea typeface="Malgun Gothic"/>
              </a:rPr>
              <a:t>NO (1-ε)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5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  <a:ea typeface="Malgun Gothic"/>
              </a:rPr>
              <a:t>Q-Learning 라우팅 전체 동작 흐름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495" y="1234440"/>
            <a:ext cx="1965960" cy="822960"/>
          </a:xfrm>
          <a:prstGeom prst="rect">
            <a:avLst/>
          </a:prstGeom>
          <a:solidFill>
            <a:srgbClr val="29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5" y="1280160"/>
            <a:ext cx="187451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  <a:ea typeface="Malgun Gothic"/>
              </a:rPr>
              <a:t>(1) 상태 감지</a:t>
            </a:r>
          </a:p>
        </p:txBody>
      </p:sp>
      <p:sp>
        <p:nvSpPr>
          <p:cNvPr id="6" name="Rectangle 5"/>
          <p:cNvSpPr/>
          <p:nvPr/>
        </p:nvSpPr>
        <p:spPr>
          <a:xfrm>
            <a:off x="539495" y="2148840"/>
            <a:ext cx="1965960" cy="1828800"/>
          </a:xfrm>
          <a:prstGeom prst="rect">
            <a:avLst/>
          </a:prstGeom>
          <a:solidFill>
            <a:srgbClr val="F5F7FA"/>
          </a:solidFill>
          <a:ln w="25400">
            <a:solidFill>
              <a:srgbClr val="29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7" y="2240280"/>
            <a:ext cx="181965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C3C3C"/>
                </a:solidFill>
                <a:latin typeface="Calibri"/>
                <a:ea typeface="Malgun Gothic"/>
              </a:rPr>
              <a:t>SDN Controller가
네트워크 위상,
대역폭, 트래픽 수집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23744" y="15544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87878"/>
                </a:solidFill>
                <a:latin typeface="Calibri"/>
                <a:ea typeface="Malgun Gothic"/>
              </a:rPr>
              <a:t>&gt;&gt;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2825496" y="1234440"/>
            <a:ext cx="1965960" cy="822960"/>
          </a:xfrm>
          <a:prstGeom prst="rect">
            <a:avLst/>
          </a:prstGeom>
          <a:solidFill>
            <a:srgbClr val="15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71215" y="1280160"/>
            <a:ext cx="187451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  <a:ea typeface="Malgun Gothic"/>
              </a:rPr>
              <a:t>(2) 행동 선택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25496" y="2148840"/>
            <a:ext cx="1965960" cy="1828800"/>
          </a:xfrm>
          <a:prstGeom prst="rect">
            <a:avLst/>
          </a:prstGeom>
          <a:solidFill>
            <a:srgbClr val="F5F7FA"/>
          </a:solidFill>
          <a:ln w="25400">
            <a:solidFill>
              <a:srgbClr val="152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98648" y="2240280"/>
            <a:ext cx="181965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C3C3C"/>
                </a:solidFill>
                <a:latin typeface="Calibri"/>
                <a:ea typeface="Malgun Gothic"/>
              </a:rPr>
              <a:t>Q-Table +
epsilon-greedy로
다음 스위치 결정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9744" y="15544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87878"/>
                </a:solidFill>
                <a:latin typeface="Calibri"/>
                <a:ea typeface="Malgun Gothic"/>
              </a:rPr>
              <a:t>&gt;&gt;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11496" y="1234440"/>
            <a:ext cx="1965960" cy="822960"/>
          </a:xfrm>
          <a:prstGeom prst="rect">
            <a:avLst/>
          </a:prstGeom>
          <a:solidFill>
            <a:srgbClr val="823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57216" y="1280160"/>
            <a:ext cx="187451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  <a:ea typeface="Malgun Gothic"/>
              </a:rPr>
              <a:t>(3) 행동 실행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11496" y="2148840"/>
            <a:ext cx="1965960" cy="1828800"/>
          </a:xfrm>
          <a:prstGeom prst="rect">
            <a:avLst/>
          </a:prstGeom>
          <a:solidFill>
            <a:srgbClr val="F5F7FA"/>
          </a:solidFill>
          <a:ln w="25400">
            <a:solidFill>
              <a:srgbClr val="823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84648" y="2240280"/>
            <a:ext cx="181965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C3C3C"/>
                </a:solidFill>
                <a:latin typeface="Calibri"/>
                <a:ea typeface="Malgun Gothic"/>
              </a:rPr>
              <a:t>Flow Table 발행
스위치가 패킷
포워딩 수행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95744" y="15544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87878"/>
                </a:solidFill>
                <a:latin typeface="Calibri"/>
                <a:ea typeface="Malgun Gothic"/>
              </a:rPr>
              <a:t>&gt;&gt;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97496" y="1234440"/>
            <a:ext cx="1965960" cy="8229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43216" y="1280160"/>
            <a:ext cx="187451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  <a:ea typeface="Malgun Gothic"/>
              </a:rPr>
              <a:t>(4) 보상 계산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97496" y="2148840"/>
            <a:ext cx="1965960" cy="1828800"/>
          </a:xfrm>
          <a:prstGeom prst="rect">
            <a:avLst/>
          </a:prstGeom>
          <a:solidFill>
            <a:srgbClr val="F5F7FA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70648" y="2240280"/>
            <a:ext cx="181965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C3C3C"/>
                </a:solidFill>
                <a:latin typeface="Calibri"/>
                <a:ea typeface="Malgun Gothic"/>
              </a:rPr>
              <a:t>지연+대역폭 기반
보상 함수 R 적용
(미연결 = 음수)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81744" y="15544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87878"/>
                </a:solidFill>
                <a:latin typeface="Calibri"/>
                <a:ea typeface="Malgun Gothic"/>
              </a:rPr>
              <a:t>&gt;&gt;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83496" y="1234440"/>
            <a:ext cx="1965960" cy="82296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29216" y="1280160"/>
            <a:ext cx="187451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  <a:ea typeface="Malgun Gothic"/>
              </a:rPr>
              <a:t>(5) Q-Table 갱신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83496" y="2148840"/>
            <a:ext cx="1965960" cy="1828800"/>
          </a:xfrm>
          <a:prstGeom prst="rect">
            <a:avLst/>
          </a:prstGeom>
          <a:solidFill>
            <a:srgbClr val="F5F7FA"/>
          </a:solidFill>
          <a:ln w="254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56648" y="2240280"/>
            <a:ext cx="181965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C3C3C"/>
                </a:solidFill>
                <a:latin typeface="Calibri"/>
                <a:ea typeface="Malgun Gothic"/>
              </a:rPr>
              <a:t>a, g를 이용해
Q값 업데이트
수렴까지 반복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297680"/>
            <a:ext cx="11274552" cy="2194560"/>
          </a:xfrm>
          <a:prstGeom prst="rect">
            <a:avLst/>
          </a:prstGeom>
          <a:solidFill>
            <a:srgbClr val="FFFAE1"/>
          </a:solidFill>
          <a:ln w="19050">
            <a:solidFill>
              <a:srgbClr val="DCB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434840"/>
            <a:ext cx="107899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152852"/>
                </a:solidFill>
                <a:latin typeface="Calibri"/>
                <a:ea typeface="Malgun Gothic"/>
              </a:rPr>
              <a:t>[수렴 결과]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3C3C3C"/>
                </a:solidFill>
                <a:latin typeface="Calibri"/>
                <a:ea typeface="Malgun Gothic"/>
              </a:rPr>
              <a:t/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3C3C3C"/>
                </a:solidFill>
                <a:latin typeface="Calibri"/>
                <a:ea typeface="Malgun Gothic"/>
              </a:rPr>
              <a:t>최적 Q-Table = 최적 라우팅 정책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3C3C3C"/>
                </a:solidFill>
                <a:latin typeface="Calibri"/>
                <a:ea typeface="Malgun Gothic"/>
              </a:rPr>
              <a:t>데이터 패킷은 Q-Table에 따라 포워딩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3C3C3C"/>
                </a:solidFill>
                <a:latin typeface="Calibri"/>
                <a:ea typeface="Malgun Gothic"/>
              </a:rPr>
              <a:t>-&gt; 전송 지연 최소화 + QoS 보장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5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  <a:ea typeface="Malgun Gothic"/>
              </a:rPr>
              <a:t>실험 결과 및 성능 비교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4572000" cy="2286000"/>
          </a:xfrm>
          <a:prstGeom prst="rect">
            <a:avLst/>
          </a:prstGeom>
          <a:solidFill>
            <a:srgbClr val="F5F7FA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152852"/>
                </a:solidFill>
                <a:latin typeface="Calibri"/>
                <a:ea typeface="Malgun Gothic"/>
              </a:rPr>
              <a:t>[실험 환경]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4114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 i="0">
                <a:solidFill>
                  <a:srgbClr val="3C3C3C"/>
                </a:solidFill>
                <a:latin typeface="Calibri"/>
                <a:ea typeface="Malgun Gothic"/>
              </a:rPr>
              <a:t>- 스위치 10개 네트워크 토폴로지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3C3C3C"/>
                </a:solidFill>
                <a:latin typeface="Calibri"/>
                <a:ea typeface="Malgun Gothic"/>
              </a:rPr>
              <a:t>- 가용 대역폭 Ba: 0~1 랜덤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3C3C3C"/>
                </a:solidFill>
                <a:latin typeface="Calibri"/>
                <a:ea typeface="Malgun Gothic"/>
              </a:rPr>
              <a:t>- 비교: Shortest Path 알고리즘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3C3C3C"/>
                </a:solidFill>
                <a:latin typeface="Calibri"/>
                <a:ea typeface="Malgun Gothic"/>
              </a:rPr>
              <a:t>- 최적 epsilon = 0.3 (5,000회 학습)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0" y="1188720"/>
            <a:ext cx="2148840" cy="2286000"/>
          </a:xfrm>
          <a:prstGeom prst="rect">
            <a:avLst/>
          </a:prstGeom>
          <a:solidFill>
            <a:srgbClr val="15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94959" y="128016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4C8E6"/>
                </a:solidFill>
                <a:latin typeface="Calibri"/>
                <a:ea typeface="Malgun Gothic"/>
              </a:rPr>
              <a:t>평균 지연
감소율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59" y="201168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CC00"/>
                </a:solidFill>
                <a:latin typeface="Calibri"/>
                <a:ea typeface="Malgun Gothic"/>
              </a:rPr>
              <a:t>43.38%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59" y="274320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87878"/>
                </a:solidFill>
                <a:latin typeface="Calibri"/>
                <a:ea typeface="Malgun Gothic"/>
              </a:rPr>
              <a:t>(epsilon=0.3)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35240" y="1188720"/>
            <a:ext cx="2148840" cy="2286000"/>
          </a:xfrm>
          <a:prstGeom prst="rect">
            <a:avLst/>
          </a:prstGeom>
          <a:solidFill>
            <a:srgbClr val="15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128016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4C8E6"/>
                </a:solidFill>
                <a:latin typeface="Calibri"/>
                <a:ea typeface="Malgun Gothic"/>
              </a:rPr>
              <a:t>중간값 지연
감소율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01168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CC00"/>
                </a:solidFill>
                <a:latin typeface="Calibri"/>
                <a:ea typeface="Malgun Gothic"/>
              </a:rPr>
              <a:t>33.11%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274320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87878"/>
                </a:solidFill>
                <a:latin typeface="Calibri"/>
                <a:ea typeface="Malgun Gothic"/>
              </a:rPr>
              <a:t>(epsilon=0.3)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66959" y="1188720"/>
            <a:ext cx="2148840" cy="2286000"/>
          </a:xfrm>
          <a:prstGeom prst="rect">
            <a:avLst/>
          </a:prstGeom>
          <a:solidFill>
            <a:srgbClr val="15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399" y="128016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4C8E6"/>
                </a:solidFill>
                <a:latin typeface="Calibri"/>
                <a:ea typeface="Malgun Gothic"/>
              </a:rPr>
              <a:t>최대 지연
감소율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399" y="201168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CC00"/>
                </a:solidFill>
                <a:latin typeface="Calibri"/>
                <a:ea typeface="Malgun Gothic"/>
              </a:rPr>
              <a:t>69.57%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399" y="274320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87878"/>
                </a:solidFill>
                <a:latin typeface="Calibri"/>
                <a:ea typeface="Malgun Gothic"/>
              </a:rPr>
              <a:t>(epsilon=0.3)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657600"/>
            <a:ext cx="11274552" cy="457200"/>
          </a:xfrm>
          <a:prstGeom prst="rect">
            <a:avLst/>
          </a:prstGeom>
          <a:solidFill>
            <a:srgbClr val="29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703320"/>
            <a:ext cx="151921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  <a:ea typeface="Malgun Gothic"/>
              </a:rPr>
              <a:t>알고리즘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13570" y="3703320"/>
            <a:ext cx="151921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  <a:ea typeface="Malgun Gothic"/>
              </a:rPr>
              <a:t>평균 지연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24220" y="3703320"/>
            <a:ext cx="151921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  <a:ea typeface="Malgun Gothic"/>
              </a:rPr>
              <a:t>Gain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34870" y="3703320"/>
            <a:ext cx="151921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  <a:ea typeface="Malgun Gothic"/>
              </a:rPr>
              <a:t>중간 지연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5521" y="3703320"/>
            <a:ext cx="151921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  <a:ea typeface="Malgun Gothic"/>
              </a:rPr>
              <a:t>Gain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56171" y="3703320"/>
            <a:ext cx="151921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  <a:ea typeface="Malgun Gothic"/>
              </a:rPr>
              <a:t>최대 지연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66821" y="3703320"/>
            <a:ext cx="151921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  <a:ea typeface="Malgun Gothic"/>
              </a:rPr>
              <a:t>Gain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160520"/>
            <a:ext cx="1610650" cy="411480"/>
          </a:xfrm>
          <a:prstGeom prst="rect">
            <a:avLst/>
          </a:prstGeom>
          <a:solidFill>
            <a:srgbClr val="F5F7FA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2062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C3C3C"/>
                </a:solidFill>
                <a:latin typeface="Calibri"/>
                <a:ea typeface="Malgun Gothic"/>
              </a:rPr>
              <a:t>Q-Learning (e=0.3)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67850" y="4160520"/>
            <a:ext cx="1610650" cy="411480"/>
          </a:xfrm>
          <a:prstGeom prst="rect">
            <a:avLst/>
          </a:prstGeom>
          <a:solidFill>
            <a:srgbClr val="DCF0DC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13570" y="42062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C3C3C"/>
                </a:solidFill>
                <a:latin typeface="Calibri"/>
                <a:ea typeface="Malgun Gothic"/>
              </a:rPr>
              <a:t>2.01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78500" y="4160520"/>
            <a:ext cx="1610650" cy="411480"/>
          </a:xfrm>
          <a:prstGeom prst="rect">
            <a:avLst/>
          </a:prstGeom>
          <a:solidFill>
            <a:srgbClr val="DCF0DC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24220" y="42062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4A853"/>
                </a:solidFill>
                <a:latin typeface="Calibri"/>
                <a:ea typeface="Malgun Gothic"/>
              </a:rPr>
              <a:t>43.38%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89150" y="4160520"/>
            <a:ext cx="1610650" cy="411480"/>
          </a:xfrm>
          <a:prstGeom prst="rect">
            <a:avLst/>
          </a:prstGeom>
          <a:solidFill>
            <a:srgbClr val="DCF0DC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34870" y="42062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C3C3C"/>
                </a:solidFill>
                <a:latin typeface="Calibri"/>
                <a:ea typeface="Malgun Gothic"/>
              </a:rPr>
              <a:t>2.00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99801" y="4160520"/>
            <a:ext cx="1610650" cy="411480"/>
          </a:xfrm>
          <a:prstGeom prst="rect">
            <a:avLst/>
          </a:prstGeom>
          <a:solidFill>
            <a:srgbClr val="DCF0DC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45521" y="42062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4A853"/>
                </a:solidFill>
                <a:latin typeface="Calibri"/>
                <a:ea typeface="Malgun Gothic"/>
              </a:rPr>
              <a:t>33.11%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10451" y="4160520"/>
            <a:ext cx="1610650" cy="411480"/>
          </a:xfrm>
          <a:prstGeom prst="rect">
            <a:avLst/>
          </a:prstGeom>
          <a:solidFill>
            <a:srgbClr val="DCF0DC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56171" y="42062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C3C3C"/>
                </a:solidFill>
                <a:latin typeface="Calibri"/>
                <a:ea typeface="Malgun Gothic"/>
              </a:rPr>
              <a:t>4.29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121101" y="4160520"/>
            <a:ext cx="1610650" cy="411480"/>
          </a:xfrm>
          <a:prstGeom prst="rect">
            <a:avLst/>
          </a:prstGeom>
          <a:solidFill>
            <a:srgbClr val="DCF0DC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66821" y="42062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4A853"/>
                </a:solidFill>
                <a:latin typeface="Calibri"/>
                <a:ea typeface="Malgun Gothic"/>
              </a:rPr>
              <a:t>69.57%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617720"/>
            <a:ext cx="161065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46634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C3C3C"/>
                </a:solidFill>
                <a:latin typeface="Calibri"/>
                <a:ea typeface="Malgun Gothic"/>
              </a:rPr>
              <a:t>Q-Learning (e=0.2)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067850" y="4617720"/>
            <a:ext cx="161065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113570" y="46634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C3C3C"/>
                </a:solidFill>
                <a:latin typeface="Calibri"/>
                <a:ea typeface="Malgun Gothic"/>
              </a:rPr>
              <a:t>2.31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78500" y="4617720"/>
            <a:ext cx="161065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24220" y="46634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C3C3C"/>
                </a:solidFill>
                <a:latin typeface="Calibri"/>
                <a:ea typeface="Malgun Gothic"/>
              </a:rPr>
              <a:t>34.93%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289150" y="4617720"/>
            <a:ext cx="161065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334870" y="46634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C3C3C"/>
                </a:solidFill>
                <a:latin typeface="Calibri"/>
                <a:ea typeface="Malgun Gothic"/>
              </a:rPr>
              <a:t>2.28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899801" y="4617720"/>
            <a:ext cx="161065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945521" y="46634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C3C3C"/>
                </a:solidFill>
                <a:latin typeface="Calibri"/>
                <a:ea typeface="Malgun Gothic"/>
              </a:rPr>
              <a:t>23.75%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510451" y="4617720"/>
            <a:ext cx="161065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556171" y="46634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C3C3C"/>
                </a:solidFill>
                <a:latin typeface="Calibri"/>
                <a:ea typeface="Malgun Gothic"/>
              </a:rPr>
              <a:t>6.26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121101" y="4617720"/>
            <a:ext cx="161065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166821" y="46634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C3C3C"/>
                </a:solidFill>
                <a:latin typeface="Calibri"/>
                <a:ea typeface="Malgun Gothic"/>
              </a:rPr>
              <a:t>55.60%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5074920"/>
            <a:ext cx="1610650" cy="411480"/>
          </a:xfrm>
          <a:prstGeom prst="rect">
            <a:avLst/>
          </a:prstGeom>
          <a:solidFill>
            <a:srgbClr val="F5F7FA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2920" y="51206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C3C3C"/>
                </a:solidFill>
                <a:latin typeface="Calibri"/>
                <a:ea typeface="Malgun Gothic"/>
              </a:rPr>
              <a:t>Q-Learning (e=0.5)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067850" y="5074920"/>
            <a:ext cx="1610650" cy="411480"/>
          </a:xfrm>
          <a:prstGeom prst="rect">
            <a:avLst/>
          </a:prstGeom>
          <a:solidFill>
            <a:srgbClr val="F5F7FA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113570" y="51206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C3C3C"/>
                </a:solidFill>
                <a:latin typeface="Calibri"/>
                <a:ea typeface="Malgun Gothic"/>
              </a:rPr>
              <a:t>2.08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78500" y="5074920"/>
            <a:ext cx="1610650" cy="411480"/>
          </a:xfrm>
          <a:prstGeom prst="rect">
            <a:avLst/>
          </a:prstGeom>
          <a:solidFill>
            <a:srgbClr val="F5F7FA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724220" y="51206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C3C3C"/>
                </a:solidFill>
                <a:latin typeface="Calibri"/>
                <a:ea typeface="Malgun Gothic"/>
              </a:rPr>
              <a:t>41.41%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289150" y="5074920"/>
            <a:ext cx="1610650" cy="411480"/>
          </a:xfrm>
          <a:prstGeom prst="rect">
            <a:avLst/>
          </a:prstGeom>
          <a:solidFill>
            <a:srgbClr val="F5F7FA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334870" y="51206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C3C3C"/>
                </a:solidFill>
                <a:latin typeface="Calibri"/>
                <a:ea typeface="Malgun Gothic"/>
              </a:rPr>
              <a:t>2.07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899801" y="5074920"/>
            <a:ext cx="1610650" cy="411480"/>
          </a:xfrm>
          <a:prstGeom prst="rect">
            <a:avLst/>
          </a:prstGeom>
          <a:solidFill>
            <a:srgbClr val="F5F7FA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945521" y="51206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C3C3C"/>
                </a:solidFill>
                <a:latin typeface="Calibri"/>
                <a:ea typeface="Malgun Gothic"/>
              </a:rPr>
              <a:t>30.77%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510451" y="5074920"/>
            <a:ext cx="1610650" cy="411480"/>
          </a:xfrm>
          <a:prstGeom prst="rect">
            <a:avLst/>
          </a:prstGeom>
          <a:solidFill>
            <a:srgbClr val="F5F7FA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556171" y="51206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C3C3C"/>
                </a:solidFill>
                <a:latin typeface="Calibri"/>
                <a:ea typeface="Malgun Gothic"/>
              </a:rPr>
              <a:t>4.40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121101" y="5074920"/>
            <a:ext cx="1610650" cy="411480"/>
          </a:xfrm>
          <a:prstGeom prst="rect">
            <a:avLst/>
          </a:prstGeom>
          <a:solidFill>
            <a:srgbClr val="F5F7FA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166821" y="51206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C3C3C"/>
                </a:solidFill>
                <a:latin typeface="Calibri"/>
                <a:ea typeface="Malgun Gothic"/>
              </a:rPr>
              <a:t>68.79%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57200" y="5532120"/>
            <a:ext cx="161065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02920" y="55778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C3C3C"/>
                </a:solidFill>
                <a:latin typeface="Calibri"/>
                <a:ea typeface="Malgun Gothic"/>
              </a:rPr>
              <a:t>Shortest Path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067850" y="5532120"/>
            <a:ext cx="161065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113570" y="55778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C3C3C"/>
                </a:solidFill>
                <a:latin typeface="Calibri"/>
                <a:ea typeface="Malgun Gothic"/>
              </a:rPr>
              <a:t>3.55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678500" y="5532120"/>
            <a:ext cx="161065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724220" y="55778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C3C3C"/>
                </a:solidFill>
                <a:latin typeface="Calibri"/>
                <a:ea typeface="Malgun Gothic"/>
              </a:rPr>
              <a:t>-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289150" y="5532120"/>
            <a:ext cx="161065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334870" y="55778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C3C3C"/>
                </a:solidFill>
                <a:latin typeface="Calibri"/>
                <a:ea typeface="Malgun Gothic"/>
              </a:rPr>
              <a:t>2.99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899801" y="5532120"/>
            <a:ext cx="161065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945521" y="55778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C3C3C"/>
                </a:solidFill>
                <a:latin typeface="Calibri"/>
                <a:ea typeface="Malgun Gothic"/>
              </a:rPr>
              <a:t>-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510451" y="5532120"/>
            <a:ext cx="161065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556171" y="55778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C3C3C"/>
                </a:solidFill>
                <a:latin typeface="Calibri"/>
                <a:ea typeface="Malgun Gothic"/>
              </a:rPr>
              <a:t>14.10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121101" y="5532120"/>
            <a:ext cx="161065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166821" y="55778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C3C3C"/>
                </a:solidFill>
                <a:latin typeface="Calibri"/>
                <a:ea typeface="Malgun Gothic"/>
              </a:rPr>
              <a:t>-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57200" y="6080760"/>
            <a:ext cx="11274552" cy="594360"/>
          </a:xfrm>
          <a:prstGeom prst="rect">
            <a:avLst/>
          </a:prstGeom>
          <a:solidFill>
            <a:srgbClr val="FFF5E6"/>
          </a:solidFill>
          <a:ln w="12700">
            <a:solidFill>
              <a:srgbClr val="C8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1520" y="61264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C86400"/>
                </a:solidFill>
                <a:latin typeface="Calibri"/>
                <a:ea typeface="Malgun Gothic"/>
              </a:rPr>
              <a:t xml:space="preserve">[안정성] </a:t>
            </a:r>
            <a:r>
              <a:rPr sz="1300" b="0" i="0">
                <a:solidFill>
                  <a:srgbClr val="3C3C3C"/>
                </a:solidFill>
                <a:latin typeface="Calibri"/>
                <a:ea typeface="Malgun Gothic"/>
              </a:rPr>
              <a:t>30% 이하 대역폭 변동(delta)에도 성능 유지 -&gt; 복잡하고 가변적인 네트워크 환경에 대응 가능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8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Calibri"/>
                <a:ea typeface="Malgun Gothic"/>
              </a:rPr>
              <a:t>결론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2103120" cy="10058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  <a:ea typeface="Malgun Gothic"/>
              </a:rPr>
              <a:t>[핵심 기여]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1280160"/>
            <a:ext cx="8961120" cy="1005840"/>
          </a:xfrm>
          <a:prstGeom prst="rect">
            <a:avLst/>
          </a:prstGeom>
          <a:solidFill>
            <a:srgbClr val="23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0" y="1389888"/>
            <a:ext cx="8595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D2E6FF"/>
                </a:solidFill>
                <a:latin typeface="Calibri"/>
                <a:ea typeface="Malgun Gothic"/>
              </a:rPr>
              <a:t>SDN 환경에서 비균일 대역폭, 이질적 QoS 패킷에 대한
새로운 보상 함수를 제안하여 Q-Learning에 적용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560320"/>
            <a:ext cx="2103120" cy="10058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7889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  <a:ea typeface="Malgun Gothic"/>
              </a:rPr>
              <a:t>[성능 향상]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2560320"/>
            <a:ext cx="8961120" cy="1005840"/>
          </a:xfrm>
          <a:prstGeom prst="rect">
            <a:avLst/>
          </a:prstGeom>
          <a:solidFill>
            <a:srgbClr val="23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2670048"/>
            <a:ext cx="8595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D2E6FF"/>
                </a:solidFill>
                <a:latin typeface="Calibri"/>
                <a:ea typeface="Malgun Gothic"/>
              </a:rPr>
              <a:t>기존 최단경로 대비 평균 지연 43%, 최대 지연 69% 감소
-&gt; 사용자 QoS 보장 실증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840479"/>
            <a:ext cx="2103120" cy="10058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069079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  <a:ea typeface="Malgun Gothic"/>
              </a:rPr>
              <a:t>[안정성]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3840479"/>
            <a:ext cx="8961120" cy="1005840"/>
          </a:xfrm>
          <a:prstGeom prst="rect">
            <a:avLst/>
          </a:prstGeom>
          <a:solidFill>
            <a:srgbClr val="23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26080" y="3950207"/>
            <a:ext cx="8595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D2E6FF"/>
                </a:solidFill>
                <a:latin typeface="Calibri"/>
                <a:ea typeface="Malgun Gothic"/>
              </a:rPr>
              <a:t>30% 이하 대역폭 변동에도 성능 유지
-&gt; 가변적인 실제 네트워크 환경 대응 가능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120640"/>
            <a:ext cx="2103120" cy="10058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3492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  <a:ea typeface="Malgun Gothic"/>
              </a:rPr>
              <a:t>[의의]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5120640"/>
            <a:ext cx="8961120" cy="1005840"/>
          </a:xfrm>
          <a:prstGeom prst="rect">
            <a:avLst/>
          </a:prstGeom>
          <a:solidFill>
            <a:srgbClr val="23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6080" y="5230368"/>
            <a:ext cx="8595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D2E6FF"/>
                </a:solidFill>
                <a:latin typeface="Calibri"/>
                <a:ea typeface="Malgun Gothic"/>
              </a:rPr>
              <a:t>RL을 SDN 라우팅에 실제 적용한 사례
-&gt; 지능형 자율 네트워크 제어의 토대 마련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87878"/>
                </a:solidFill>
                <a:latin typeface="Calibri"/>
                <a:ea typeface="Malgun Gothic"/>
              </a:rPr>
              <a:t>Q-Learning 기반 SDN 라우팅 최적화  |  IEEE EUC 2021  |  Wang, Zhou, Fan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5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  <a:ea typeface="Malgun Gothic"/>
              </a:rPr>
              <a:t>논문 개요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4552" cy="2103120"/>
          </a:xfrm>
          <a:prstGeom prst="rect">
            <a:avLst/>
          </a:prstGeom>
          <a:solidFill>
            <a:srgbClr val="EBF2FF"/>
          </a:solidFill>
          <a:ln w="25400">
            <a:solidFill>
              <a:srgbClr val="29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969B0"/>
                </a:solidFill>
                <a:latin typeface="Calibri"/>
                <a:ea typeface="Malgun Gothic"/>
              </a:rPr>
              <a:t>[연구 목적]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 b="0">
                <a:solidFill>
                  <a:srgbClr val="3C3C3C"/>
                </a:solidFill>
                <a:latin typeface="Calibri"/>
                <a:ea typeface="Malgun Gothic"/>
              </a:rPr>
              <a:t>SDN(Software Defined Network) 환경에서 사용자 QoS를 보장하는</a:t>
            </a:r>
          </a:p>
          <a:p>
            <a:pPr>
              <a:spcAft>
                <a:spcPts val="300"/>
              </a:spcAft>
            </a:pPr>
            <a:r>
              <a:rPr sz="1500" b="0">
                <a:solidFill>
                  <a:srgbClr val="3C3C3C"/>
                </a:solidFill>
                <a:latin typeface="Calibri"/>
                <a:ea typeface="Malgun Gothic"/>
              </a:rPr>
              <a:t>지능형 라우팅 최적화를 위해, Q-Learning 기반의 라우팅 알고리즘을 제안한다.</a:t>
            </a:r>
          </a:p>
          <a:p>
            <a:pPr>
              <a:spcAft>
                <a:spcPts val="300"/>
              </a:spcAft>
            </a:pPr>
            <a:r>
              <a:rPr sz="1500" b="0">
                <a:solidFill>
                  <a:srgbClr val="3C3C3C"/>
                </a:solidFill>
                <a:latin typeface="Calibri"/>
                <a:ea typeface="Malgun Gothic"/>
              </a:rPr>
              <a:t/>
            </a:r>
          </a:p>
          <a:p>
            <a:pPr>
              <a:spcAft>
                <a:spcPts val="300"/>
              </a:spcAft>
            </a:pPr>
            <a:r>
              <a:rPr sz="1500" b="0">
                <a:solidFill>
                  <a:srgbClr val="3C3C3C"/>
                </a:solidFill>
                <a:latin typeface="Calibri"/>
                <a:ea typeface="Malgun Gothic"/>
              </a:rPr>
              <a:t>라우터 간 비균일 대역폭과 이질적 QoS 패킷을 동시에 고려하는</a:t>
            </a:r>
          </a:p>
          <a:p>
            <a:pPr>
              <a:spcAft>
                <a:spcPts val="300"/>
              </a:spcAft>
            </a:pPr>
            <a:r>
              <a:rPr sz="1500" b="0">
                <a:solidFill>
                  <a:srgbClr val="3C3C3C"/>
                </a:solidFill>
                <a:latin typeface="Calibri"/>
                <a:ea typeface="Malgun Gothic"/>
              </a:rPr>
              <a:t>새로운 보상 함수(Reward Function)를 설계하여 전송 지연을 최소화한다.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474720"/>
            <a:ext cx="5486400" cy="3017520"/>
          </a:xfrm>
          <a:prstGeom prst="rect">
            <a:avLst/>
          </a:prstGeom>
          <a:solidFill>
            <a:srgbClr val="F5F7FA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52852"/>
                </a:solidFill>
                <a:latin typeface="Calibri"/>
                <a:ea typeface="Malgun Gothic"/>
              </a:rPr>
              <a:t>[접근 방법]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23360"/>
            <a:ext cx="5212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0">
                <a:solidFill>
                  <a:srgbClr val="3C3C3C"/>
                </a:solidFill>
                <a:latin typeface="Calibri"/>
                <a:ea typeface="Malgun Gothic"/>
              </a:rPr>
              <a:t>1. SDN Controller를 Q-Learning의 Agent로 활용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3C3C3C"/>
                </a:solidFill>
                <a:latin typeface="Calibri"/>
                <a:ea typeface="Malgun Gothic"/>
              </a:rPr>
              <a:t>2. 네트워크 상태(State)에 따라 다음 홉(Action) 결정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3C3C3C"/>
                </a:solidFill>
                <a:latin typeface="Calibri"/>
                <a:ea typeface="Malgun Gothic"/>
              </a:rPr>
              <a:t>3. 대역폭 + 지연을 동시에 고려한 보상 함수 설계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3C3C3C"/>
                </a:solidFill>
                <a:latin typeface="Calibri"/>
                <a:ea typeface="Malgun Gothic"/>
              </a:rPr>
              <a:t>4. epsilon-greedy 전략으로 탐험/활용 균형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3C3C3C"/>
                </a:solidFill>
                <a:latin typeface="Calibri"/>
                <a:ea typeface="Malgun Gothic"/>
              </a:rPr>
              <a:t>5. Q-Table 수렴 -&gt; 최적 라우팅 테이블 도출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3474720"/>
            <a:ext cx="5486400" cy="3017520"/>
          </a:xfrm>
          <a:prstGeom prst="rect">
            <a:avLst/>
          </a:prstGeom>
          <a:solidFill>
            <a:srgbClr val="E8F8EB"/>
          </a:solidFill>
          <a:ln w="127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35204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34A853"/>
                </a:solidFill>
                <a:latin typeface="Calibri"/>
                <a:ea typeface="Malgun Gothic"/>
              </a:rPr>
              <a:t>[주요 결과]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4023360"/>
            <a:ext cx="5120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0">
                <a:solidFill>
                  <a:srgbClr val="3C3C3C"/>
                </a:solidFill>
                <a:latin typeface="Calibri"/>
                <a:ea typeface="Malgun Gothic"/>
              </a:rPr>
              <a:t>- 기존 최단경로 알고리즘 대비: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34A853"/>
                </a:solidFill>
                <a:latin typeface="Calibri"/>
                <a:ea typeface="Malgun Gothic"/>
              </a:rPr>
              <a:t xml:space="preserve">    평균 전송 지연 43.38% 감소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34A853"/>
                </a:solidFill>
                <a:latin typeface="Calibri"/>
                <a:ea typeface="Malgun Gothic"/>
              </a:rPr>
              <a:t xml:space="preserve">    최대 전송 지연 69.57% 감소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3C3C3C"/>
                </a:solidFill>
                <a:latin typeface="Calibri"/>
                <a:ea typeface="Malgun Gothic"/>
              </a:rPr>
              <a:t/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3C3C3C"/>
                </a:solidFill>
                <a:latin typeface="Calibri"/>
                <a:ea typeface="Malgun Gothic"/>
              </a:rPr>
              <a:t>- 30% 이하 대역폭 변동에도 안정적 성능 유지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3C3C3C"/>
                </a:solidFill>
                <a:latin typeface="Calibri"/>
                <a:ea typeface="Malgun Gothic"/>
              </a:rPr>
              <a:t>- 복잡한 네트워크 환경에 대응 가능</a:t>
            </a:r>
          </a:p>
        </p:txBody>
      </p:sp>
      <p:sp>
        <p:nvSpPr>
          <p:cNvPr id="50" name="Badge1"/>
          <p:cNvSpPr/>
          <p:nvPr/>
        </p:nvSpPr>
        <p:spPr>
          <a:xfrm>
            <a:off x="7770000" y="1700000"/>
            <a:ext cx="4100000" cy="380000"/>
          </a:xfrm>
          <a:prstGeom prst="roundRect">
            <a:avLst>
              <a:gd name="adj" fmla="val 20000"/>
            </a:avLst>
          </a:prstGeom>
          <a:solidFill>
            <a:srgbClr val="152852"/>
          </a:solidFill>
          <a:ln>
            <a:noFill/>
          </a:ln>
        </p:spPr>
        <p:txBody>
          <a:bodyPr rtlCol="0" anchor="ctr"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ko-KR" sz="1050" b="1" dirty="0">
                <a:solidFill>
                  <a:srgbClr val="FFFFFF"/>
                </a:solidFill>
                <a:latin typeface="Calibri"/>
                <a:ea typeface="Malgun Gothic"/>
              </a:rPr>
              <a:t>[문제]  비균일 대역폭 + QoS 패킷 → 지연 증가</a:t>
            </a:r>
          </a:p>
        </p:txBody>
      </p:sp>
      <p:sp>
        <p:nvSpPr>
          <p:cNvPr id="51" name="Badge2"/>
          <p:cNvSpPr/>
          <p:nvPr/>
        </p:nvSpPr>
        <p:spPr>
          <a:xfrm>
            <a:off x="7770000" y="2130000"/>
            <a:ext cx="4100000" cy="380000"/>
          </a:xfrm>
          <a:prstGeom prst="roundRect">
            <a:avLst>
              <a:gd name="adj" fmla="val 20000"/>
            </a:avLst>
          </a:prstGeom>
          <a:solidFill>
            <a:srgbClr val="2969B0"/>
          </a:solidFill>
          <a:ln>
            <a:noFill/>
          </a:ln>
        </p:spPr>
        <p:txBody>
          <a:bodyPr rtlCol="0" anchor="ctr"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ko-KR" sz="1050" b="1" dirty="0">
                <a:solidFill>
                  <a:srgbClr val="FFFFFF"/>
                </a:solidFill>
                <a:latin typeface="Calibri"/>
                <a:ea typeface="Malgun Gothic"/>
              </a:rPr>
              <a:t>[해결]  Q-Learning 기반 지능형 라우팅 (새 보상 함수)</a:t>
            </a:r>
          </a:p>
        </p:txBody>
      </p:sp>
      <p:sp>
        <p:nvSpPr>
          <p:cNvPr id="52" name="Badge3"/>
          <p:cNvSpPr/>
          <p:nvPr/>
        </p:nvSpPr>
        <p:spPr>
          <a:xfrm>
            <a:off x="7770000" y="2560000"/>
            <a:ext cx="4100000" cy="380000"/>
          </a:xfrm>
          <a:prstGeom prst="roundRect">
            <a:avLst>
              <a:gd name="adj" fmla="val 20000"/>
            </a:avLst>
          </a:prstGeom>
          <a:solidFill>
            <a:srgbClr val="217A4C"/>
          </a:solidFill>
          <a:ln>
            <a:noFill/>
          </a:ln>
        </p:spPr>
        <p:txBody>
          <a:bodyPr rtlCol="0" anchor="ctr"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ko-KR" sz="1050" b="1" dirty="0">
                <a:solidFill>
                  <a:srgbClr val="FFFFFF"/>
                </a:solidFill>
                <a:latin typeface="Calibri"/>
                <a:ea typeface="Malgun Gothic"/>
              </a:rPr>
              <a:t>[결과]  평균 지연 43% ↓  최대 지연 70% 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