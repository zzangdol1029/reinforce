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7" r:id="rId1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Q-Learning 기반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a:ea typeface="Malgun Gothic"/>
              </a:rPr>
              <a:t>SDN 라우팅 최적화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4D2FF"/>
                </a:solidFill>
                <a:latin typeface="Calibri"/>
                <a:ea typeface="Malgun Gothic"/>
              </a:rPr>
              <a:t>A Q-Learning based Routing Optimization Model in a Software Defined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375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C8DCF0"/>
                </a:solidFill>
                <a:latin typeface="Calibri"/>
                <a:ea typeface="Malgun Gothic"/>
              </a:rPr>
              <a:t>Yupeng Wang, Xin Zhou, Xinyue Fan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C8DCF0"/>
                </a:solidFill>
                <a:latin typeface="Calibri"/>
                <a:ea typeface="Malgun Gothic"/>
              </a:rPr>
              <a:t>Shenyang Aerospace University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787878"/>
                </a:solidFill>
                <a:latin typeface="Calibri"/>
                <a:ea typeface="Malgun Gothic"/>
              </a:rPr>
              <a:t>IEEE 19th Int'l Conference on Embedded and Ubiquitous Computing (EUC),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논문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제목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3444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0759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A Q-Learning based Routing Optimization Model
in a Software Defined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저자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28600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35915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Yupeng Wang, Xin Zhou, Xinyue Fan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소속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33756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41071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Shenyang Aerospace University /
Liaoning General Aviation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학술대회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89120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46227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IEEE 19th Int'l Conference on Embedded
and Ubiquitous Computing (EUC)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발표년도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5440679"/>
            <a:ext cx="914400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5513831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핵심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[기존 네트워크의 한계]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1. 제어 평면 + 포워딩 평면이 하드웨어에 통합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  -&gt; 네트워크 혁신 및 업데이트 어려움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2. 중앙 집중식 QoS 배포 전략 구현 곤란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3. 기존 최단경로(Shortest Path) 알고리즘은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  대역폭과 지연을 동시에 고려하지 못함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4. 휴리스틱 알고리즘은 계산 복잡도가 높고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  많은 저장 공간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[본 논문이 해결하고자 하는 문제]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SDN 환경에서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라우터 간 비균일(non-identical) 대역폭과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이질적(heterogeneous) QoS 패킷을 고려하여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전송 지연(Delay)을 최소화하면서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사용자 QoS를 보장하는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지능형 라우팅 최적화 알고리즘 개발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-&gt; Q-Learning 기반 접근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핵심 기여: 새로운 보상 함수(Reward Function)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제안된 해결 방법: SDN + Q-Learning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36676" y="1234440"/>
            <a:ext cx="3200400" cy="164592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SDN Controller (Agent)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네트워크 전체 정보 수집
(토폴로지, 대역폭, 트래픽)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27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234440"/>
            <a:ext cx="3200400" cy="164592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14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4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Q-Learning 알고리즘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4276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14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상태에 따른 최적 라우팅
행동 결정 (ε-greedy)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396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1875" y="1234440"/>
            <a:ext cx="3200400" cy="1645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9036" y="1280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C00"/>
                </a:solidFill>
                <a:latin typeface="Calibri"/>
                <a:ea typeface="Malgun Gothic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036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a:ea typeface="Malgun Gothic"/>
              </a:rPr>
              <a:t>Q-Table 수렴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1875" y="2971800"/>
            <a:ext cx="3200400" cy="118872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9036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최적 라우팅 테이블
생성 및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74552" cy="201168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52852"/>
                </a:solidFill>
                <a:latin typeface="Calibri"/>
                <a:ea typeface="Malgun Gothic"/>
              </a:rPr>
              <a:t>[핵심 아이디어]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SDN Controller가 Agent로서 네트워크 환경과 상호작용하며 Q-Learning으로 학습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대역폭(Bandwidth)과 전송 지연(Delay)을 동시에 고려한 최적 라우팅 정책(Q-Table) 도출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Q-Table 수렴 후, 데이터 패킷은 Q-Table에 따라 포워딩 -&gt; 전송 지연 최소화 + QoS 보장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(1) : Agent &amp;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Agent (에이전트) = SDN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[역할]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네트워크 전체 상태(Global View) 지속 감지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Q-Learning 기반 라우팅 의사결정 수행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Flow Table을 스위치에 배포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[특징]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분산 라우터가 아닌 중앙집중식 컨트롤러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환경과 반복 상호작용하며 Q-Table 학습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학습 완료 후 최적 정책으로 라우팅 수행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188720"/>
            <a:ext cx="5394960" cy="5212080"/>
          </a:xfrm>
          <a:prstGeom prst="rect">
            <a:avLst/>
          </a:prstGeom>
          <a:solidFill>
            <a:srgbClr val="E8F8EB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34A853"/>
                </a:solidFill>
                <a:latin typeface="Calibri"/>
                <a:ea typeface="Malgun Gothic"/>
              </a:rPr>
              <a:t>State (상태)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[수식]  s(h,k) = i,    i = [1, 10]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[의미]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현재 트래픽 k가 위치한 스위치 번호 i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홉(hop) h에서의 네트워크 상태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[포함 정보]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네트워크 토폴로지 행렬 Y[i,j]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  (Y[i,j]=1: 연결  /  Y[i,j]!=1: 미연결)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링크별 가용 대역폭 Ba (0~1 정규화)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데이터 패킷 전송량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강화학습 모델 (2) : Action &amp;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5E6"/>
          </a:solidFill>
          <a:ln w="254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86400"/>
                </a:solidFill>
                <a:latin typeface="Calibri"/>
                <a:ea typeface="Malgun Gothic"/>
              </a:rPr>
              <a:t>Action (행동)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[수식]  a(h,k) = i,  Y[i,h]=1 조건에서만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- 다음 홉(hop)으로 전달할 스위치 번호 선택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- 현재 스위치와 연결된 스위치만 선택 가능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- 전략: epsilon-greedy (탐험 + 활용)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5486400" cy="27889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Reward (보상) - 논문의 핵심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[제안 보상 함수]  (미연결 시 음수 보상)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R = B1*(1 - delay) + B2*(Bmin/Ba)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[단, Ba &lt; Bmin 이면 R = B3*(Ba - Bmin)]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delay 작을수록, Bmin/Ba 높을수록 -&gt; 보상 증가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B1, B2 : QoS 튜닝 가중치 (조절 가능)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52852"/>
                </a:solidFill>
                <a:latin typeface="Calibri"/>
                <a:ea typeface="Malgun Gothic"/>
              </a:rPr>
              <a:t>[보상 함수 설계 의도]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기존 보상 함수의 한계: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- 단순 홉 수 또는 링크 비용만 고려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-&gt; 실제 대역폭/지연 무시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제안 보상 함수의 3가지 고려 사항: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(1) delay 최소화: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    delay = T / (SE * Ba)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    (T: 데이터량, SE: 스펙트럼효율, Ba: 가용대역폭)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(2) 대역폭 활용률 최대화: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    Bmin/Ba (요구 대역폭 대비 가용 비율)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  (3) 경로 불가 시 음수 보상 -&gt; 자동 회피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Evaluation - Q값 업데이트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ea typeface="Malgun Gothic"/>
              </a:rPr>
              <a:t>Q(s, a) &lt;- Q(s, a) + a [ R + g * max Q(s', a') - Q(s, a) 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a  (학습률, 0&lt;a&lt;1)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1460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새로운 정보가 기존 Q값을
덮어쓰는 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g  (할인계수, 0&lt;g&lt;1)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2044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1188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미래 보상의 중요도
g가 클수록 장기 보상 중시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R(h,k)  (즉시 보상)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52628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1772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보상 함수에 의해 결정
홉 h, 트래픽 k의 보상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32120"/>
            <a:ext cx="365760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669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max Q(s', a')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532120"/>
            <a:ext cx="7498079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623560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다음 상태에서의 최대 Q값
-&gt; 최적 미래 기대값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2852"/>
                </a:solidFill>
                <a:latin typeface="Calibri"/>
                <a:ea typeface="Malgun Gothic"/>
              </a:rPr>
              <a:t>-&gt; 매 행동 후 Q값을 갱신하여 현재 정책의 품질을 지속적으로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Policy Control - epsilon-greedy 행동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969B0"/>
                </a:solidFill>
                <a:latin typeface="Calibri"/>
                <a:ea typeface="Malgun Gothic"/>
              </a:rPr>
              <a:t>[행동 전략 수식]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pi(a | s) = P(a = a* | s(h,k) = s)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epsilon-greedy 전략: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확률 epsilon     -&gt; 무작위 행동 (탐험)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- 확률 1-epsilon  -&gt; 최적 행동 (활용)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실험 결과 최적 값: epsilon = 0.3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(활용에 집중할수록 지연 최소화)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수렴 조건: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Q-Table이 더 이상 변하지 않을 때까지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C3C3C"/>
                </a:solidFill>
                <a:latin typeface="Calibri"/>
                <a:ea typeface="Malgun Gothic"/>
              </a:rPr>
              <a:t>  반복 학습 -&gt; 최적 정책 도출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1E1E2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2F082"/>
                </a:solidFill>
                <a:latin typeface="Calibri"/>
                <a:ea typeface="Malgun Gothic"/>
              </a:rPr>
              <a:t>Algorithm: Q-Learning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1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Q(s, a) 테이블 초기화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2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홉 h, 상태 s(h,k) 에서: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3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a(h,k) &lt;- epsilon-greedy로 행동 선택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4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행동 수행 -&gt; 보상 R(h,k) 계산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5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다음 상태 s(h+1,k) 관찰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6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Q값 업데이트 (업데이트 수식 적용)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7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  h+1로 이동하여 반복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CC00"/>
                </a:solidFill>
                <a:latin typeface="Calibri"/>
                <a:ea typeface="Malgun Gothic"/>
              </a:rPr>
              <a:t>8  </a:t>
            </a:r>
            <a:r>
              <a:rPr sz="1400" b="0" i="0">
                <a:solidFill>
                  <a:srgbClr val="E6FAE6"/>
                </a:solidFill>
                <a:latin typeface="Calibri"/>
                <a:ea typeface="Malgun Gothic"/>
              </a:rPr>
              <a:t>Q-Table 수렴 시 종료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Q-Learning 라우팅 전체 동작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5" y="1234440"/>
            <a:ext cx="1965960" cy="82296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5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(1) 상태 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5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SDN Controller가
네트워크 위상,
대역폭, 트래픽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5496" y="1234440"/>
            <a:ext cx="1965960" cy="82296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(2) 행동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52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Q-Table +
epsilon-greedy로
다음 스위치 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1234440"/>
            <a:ext cx="1965960" cy="822960"/>
          </a:xfrm>
          <a:prstGeom prst="rect">
            <a:avLst/>
          </a:prstGeom>
          <a:solidFill>
            <a:srgbClr val="82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(3) 행동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82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Flow Table 발행
스위치가 패킷
포워딩 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7496" y="1234440"/>
            <a:ext cx="196596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(4) 보상 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지연+대역폭 기반
보상 함수 R 적용
(미연결 = 음수)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87878"/>
                </a:solidFill>
                <a:latin typeface="Calibri"/>
                <a:ea typeface="Malgun Gothic"/>
              </a:rPr>
              <a:t>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234440"/>
            <a:ext cx="196596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9216" y="12801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(5) Q-Table 갱신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3496" y="2148840"/>
            <a:ext cx="196596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2240280"/>
            <a:ext cx="1819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3C3C"/>
                </a:solidFill>
                <a:latin typeface="Calibri"/>
                <a:ea typeface="Malgun Gothic"/>
              </a:rPr>
              <a:t>a, g를 이용해
Q값 업데이트
수렴까지 반복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74552" cy="2194560"/>
          </a:xfrm>
          <a:prstGeom prst="rect">
            <a:avLst/>
          </a:prstGeom>
          <a:solidFill>
            <a:srgbClr val="FFFAE1"/>
          </a:solidFill>
          <a:ln w="19050">
            <a:solidFill>
              <a:srgbClr val="DC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152852"/>
                </a:solidFill>
                <a:latin typeface="Calibri"/>
                <a:ea typeface="Malgun Gothic"/>
              </a:rPr>
              <a:t>[수렴 결과]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최적 Q-Table = 최적 라우팅 정책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데이터 패킷은 Q-Table에 따라 포워딩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C3C3C"/>
                </a:solidFill>
                <a:latin typeface="Calibri"/>
                <a:ea typeface="Malgun Gothic"/>
              </a:rPr>
              <a:t>-&gt; 전송 지연 최소화 + QoS 보장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algun Gothic"/>
              </a:rPr>
              <a:t>실험 결과 및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52852"/>
                </a:solidFill>
                <a:latin typeface="Calibri"/>
                <a:ea typeface="Malgun Gothic"/>
              </a:rPr>
              <a:t>[실험 환경]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스위치 10개 네트워크 토폴로지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가용 대역폭 Ba: 0~1 랜덤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비교: Shortest Path 알고리즘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- 최적 epsilon = 0.3 (5,000회 학습)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5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평균 지연
감소율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중간값 지연
감소율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1188720"/>
            <a:ext cx="2148840" cy="228600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399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4C8E6"/>
                </a:solidFill>
                <a:latin typeface="Calibri"/>
                <a:ea typeface="Malgun Gothic"/>
              </a:rPr>
              <a:t>최대 지연
감소율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20116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CC00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9" y="27432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(epsilon=0.3)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29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알고리즘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35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평균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422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870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중간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55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617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최대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6821" y="3703320"/>
            <a:ext cx="15192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Q-Learning (e=0.3)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678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35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850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422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43.38%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9150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4870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998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55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33.11%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45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617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4.29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21101" y="4160520"/>
            <a:ext cx="1610650" cy="411480"/>
          </a:xfrm>
          <a:prstGeom prst="rect">
            <a:avLst/>
          </a:prstGeom>
          <a:solidFill>
            <a:srgbClr val="DCF0DC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6821" y="42062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A853"/>
                </a:solidFill>
                <a:latin typeface="Calibri"/>
                <a:ea typeface="Malgun Gothic"/>
              </a:rPr>
              <a:t>69.57%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78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135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7850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22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34.93%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9150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34870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998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55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23.75%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1045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5617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6.26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21101" y="46177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66821" y="46634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55.60%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Q-Learning (e=0.5)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678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35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7850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2422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41.41%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9150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34870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2.07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98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55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30.77%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045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5617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4.40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21101" y="5074920"/>
            <a:ext cx="161065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66821" y="51206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3C3C"/>
                </a:solidFill>
                <a:latin typeface="Calibri"/>
                <a:ea typeface="Malgun Gothic"/>
              </a:rPr>
              <a:t>68.79%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Shortest Path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678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135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3.55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7850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2422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89150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870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2.99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998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55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1045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5617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14.10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21101" y="5532120"/>
            <a:ext cx="161065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66821" y="5577840"/>
            <a:ext cx="15192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3C3C"/>
                </a:solidFill>
                <a:latin typeface="Calibri"/>
                <a:ea typeface="Malgun Gothic"/>
              </a:rP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080760"/>
            <a:ext cx="11274552" cy="594360"/>
          </a:xfrm>
          <a:prstGeom prst="rect">
            <a:avLst/>
          </a:prstGeom>
          <a:solidFill>
            <a:srgbClr val="FFF5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126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86400"/>
                </a:solidFill>
                <a:latin typeface="Calibri"/>
                <a:ea typeface="Malgun Gothic"/>
              </a:rPr>
              <a:t>[안정성] </a:t>
            </a:r>
            <a:r>
              <a:rPr sz="1300" b="0" i="0">
                <a:solidFill>
                  <a:srgbClr val="3C3C3C"/>
                </a:solidFill>
                <a:latin typeface="Calibri"/>
                <a:ea typeface="Malgun Gothic"/>
              </a:rPr>
              <a:t>30% 이하 대역폭 변동(delta)에도 성능 유지 -&gt; 복잡하고 가변적인 네트워크 환경에 대응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  <a:ea typeface="Malgun Gothic"/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[핵심 기여]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SDN 환경에서 비균일 대역폭, 이질적 QoS 패킷에 대한
새로운 보상 함수를 제안하여 Q-Learning에 적용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[성능 향상]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6032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7004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기존 최단경로 대비 평균 지연 43%, 최대 지연 69% 감소
-&gt; 사용자 QoS 보장 실증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[안정성]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840479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950207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30% 이하 대역폭 변동에도 성능 유지
-&gt; 가변적인 실제 네트워크 환경 대응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2103120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[의의]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120640"/>
            <a:ext cx="8961120" cy="1005840"/>
          </a:xfrm>
          <a:prstGeom prst="rect">
            <a:avLst/>
          </a:prstGeom>
          <a:solidFill>
            <a:srgbClr val="2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523036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D2E6FF"/>
                </a:solidFill>
                <a:latin typeface="Calibri"/>
                <a:ea typeface="Malgun Gothic"/>
              </a:rPr>
              <a:t>RL을 SDN 라우팅에 실제 적용한 사례
-&gt; 지능형 자율 네트워크 제어의 토대 마련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87878"/>
                </a:solidFill>
                <a:latin typeface="Calibri"/>
                <a:ea typeface="Malgun Gothic"/>
              </a:rPr>
              <a:t>Q-Learning 기반 SDN 라우팅 최적화  |  IEEE EUC 2021  |  Wang, Zhou, Fan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  <a:ea typeface="Malgun Gothic"/>
              </a:rPr>
              <a:t>논문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2103120"/>
          </a:xfrm>
          <a:prstGeom prst="rect">
            <a:avLst/>
          </a:prstGeom>
          <a:solidFill>
            <a:srgbClr val="EBF2FF"/>
          </a:solidFill>
          <a:ln w="25400"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969B0"/>
                </a:solidFill>
                <a:latin typeface="Calibri"/>
                <a:ea typeface="Malgun Gothic"/>
              </a:rPr>
              <a:t>[연구 목적]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SDN(Software Defined Network) 환경에서 사용자 QoS를 보장하는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지능형 라우팅 최적화를 위해, Q-Learning 기반의 라우팅 알고리즘을 제안한다.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라우터 간 비균일 대역폭과 이질적 QoS 패킷을 동시에 고려하는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3C3C3C"/>
                </a:solidFill>
                <a:latin typeface="Calibri"/>
                <a:ea typeface="Malgun Gothic"/>
              </a:rPr>
              <a:t>새로운 보상 함수(Reward Function)를 설계하여 전송 지연을 최소화한다.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5486400" cy="3017520"/>
          </a:xfrm>
          <a:prstGeom prst="rect">
            <a:avLst/>
          </a:prstGeom>
          <a:solidFill>
            <a:srgbClr val="F5F7FA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52852"/>
                </a:solidFill>
                <a:latin typeface="Calibri"/>
                <a:ea typeface="Malgun Gothic"/>
              </a:rPr>
              <a:t>[접근 방법]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1. SDN Controller를 Q-Learning의 Agent로 활용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2. 네트워크 상태(State)에 따라 다음 홉(Action) 결정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3. 대역폭 + 지연을 동시에 고려한 보상 함수 설계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4. epsilon-greedy 전략으로 탐험/활용 균형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5. Q-Table 수렴 -&gt; 최적 라우팅 테이블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486400" cy="3017520"/>
          </a:xfrm>
          <a:prstGeom prst="rect">
            <a:avLst/>
          </a:prstGeom>
          <a:solidFill>
            <a:srgbClr val="E8F8EB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4A853"/>
                </a:solidFill>
                <a:latin typeface="Calibri"/>
                <a:ea typeface="Malgun Gothic"/>
              </a:rPr>
              <a:t>[주요 결과]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기존 최단경로 알고리즘 대비: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>    평균 전송 지연 43.38% 감소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34A853"/>
                </a:solidFill>
                <a:latin typeface="Calibri"/>
                <a:ea typeface="Malgun Gothic"/>
              </a:rPr>
              <a:t>    최대 전송 지연 69.57% 감소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- 30% 이하 대역폭 변동에도 안정적 성능 유지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C3C3C"/>
                </a:solidFill>
                <a:latin typeface="Calibri"/>
                <a:ea typeface="Malgun Gothic"/>
              </a:rPr>
              <a:t>- 복잡한 네트워크 환경에 대응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