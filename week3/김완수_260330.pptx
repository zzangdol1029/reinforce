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D02EF-8A80-4283-A1C4-E309DCB93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657164-7FE5-427F-83C5-E62E62C84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71A9F-26B0-44BE-8342-42604EAD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2CFE9-1C95-413B-9A38-AA5A9F7C9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023EE-BC46-4104-AE69-E1381FC9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60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0E187-0563-4D80-9C8A-2FE4F7F02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88B7D-C6ED-40B7-96D1-06D46CBB6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8AC0A-CD73-4F63-BC81-5CAD36F74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FE0E8-5BFD-4136-A004-4FF5737B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3EF69B-6DD2-4128-B190-3AAC0CCB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11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95D60-C60A-4EAF-AEB9-B6837011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55FB8-F896-4970-AD10-E444B71CD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3FB79-41AD-4757-8D51-72AC7A54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3B4B7-BB16-41A5-B770-DFC08EE1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0A2F92-F896-4979-BA7A-6592864A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34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C81AF-EE31-4CE4-A89B-B0FAEB08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8C37A2-503A-4C73-8833-EFF0E5A46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42576-9302-4BCB-9194-996C0D4C7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C91AD7-3EEC-42F6-BA88-F931E9EE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566762-A45A-41AC-A4DB-0A6E10EEA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100FD4-12B7-4BA2-8BE2-8A867CD8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4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B63FC-642F-47F2-ADAE-CCEE9D18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603143-F1CD-497D-B434-A526ED705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BDECC2-5901-404E-AFD4-AF74A7D62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03014A-D170-44CA-B149-E760D2DB3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19C891-A88E-4BEB-968B-26AD3D131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C7E852-16D2-42FD-8665-EE975B0FB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5FEE6F-E3A4-42BA-ABF6-43F933B0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3E77FE-2AF4-4561-805A-34EAF75E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704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7A4CE-7BD7-498A-9C1B-62B2BBCE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5E8D37-1455-466F-8165-6C7E82BAC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E65E5D-C460-4496-8F28-0860476C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A4E47A-AD1A-4C27-87EA-ED2740EC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478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DDB3D9-7ECA-46B9-B063-61513004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1153A8-A1AF-4DFA-9599-1A5736FED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123CF-E6DA-41F7-8D8F-14F61AB8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3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0E080-BB6A-4987-95D3-1E5957D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160F0-9116-4DB3-8190-3F542A32B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7130BF-9899-4890-85CA-3FFD48D84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E16925-EF33-4AE7-88EA-3D581A2F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E86F7E-0E5B-4AC5-8A1B-7EC83B9F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E02C20-3638-47B5-AACD-1AE622FD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7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F3A46-731C-43EA-80D1-C7ACA64B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0988F1-A6D3-4930-8722-6A25E87F9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E21E2F-1353-4E3C-A67A-C8200CC44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2D5815-BCBB-4D6E-8DAE-3D09F764E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AAFF95-F4EA-435F-8000-352FC078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D18170-6B3F-42F4-9704-2D9D974C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4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F779B-421E-4476-A810-478EFFD6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12EE58-55D4-446C-BB08-293FCF6CB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F4FEE-C606-494B-B3FB-F5AA161E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AA298-BCD8-42DE-BB21-D6FA5D95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35C1F3-ACBA-4016-8C3B-F5596126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61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F28994-13CA-42D7-8C7E-0DEB4FFDF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429417-3F21-4381-B03E-02B6046EA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A8322-9CE9-4B44-8454-1B4A2F7B1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21D3E4-0202-4502-956E-39EEBBC7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D34EB-4FF5-41B3-BDA3-568CA4B6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308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E661D0-DDF6-4EEB-91F3-13E4348F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FA94B6-46C0-4D5E-82F8-B02B0B320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FB9FDE-68D4-4609-8823-3585FE1DF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24813-1154-486E-B2DF-F4532A01309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EBC6B7-E303-40B7-9359-2310D03FB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82B11A-5690-4FE4-95ED-46EE6D452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04221-D458-4FF4-B17E-F5E84C230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44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5FED4-1BB4-44C7-B2DC-6FA01CE60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HW-3</a:t>
            </a:r>
            <a:r>
              <a:rPr lang="ko-KR" altLang="en-US" dirty="0"/>
              <a:t>주차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8CB0C4-A570-4E8B-A7C0-B75EBA1A69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2025254011</a:t>
            </a:r>
          </a:p>
          <a:p>
            <a:r>
              <a:rPr lang="ko-KR" altLang="en-US" dirty="0"/>
              <a:t>김완수</a:t>
            </a:r>
            <a:endParaRPr lang="en-US" altLang="ko-KR" dirty="0"/>
          </a:p>
          <a:p>
            <a:r>
              <a:rPr lang="en-US" altLang="ko-KR" dirty="0"/>
              <a:t>Git</a:t>
            </a:r>
            <a:r>
              <a:rPr lang="ko-KR" altLang="en-US" dirty="0"/>
              <a:t>소스 주소 </a:t>
            </a:r>
            <a:r>
              <a:rPr lang="en-US" altLang="ko-KR" dirty="0"/>
              <a:t>: https://github.com/zzangdol1029/reinforce.git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02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DC311-31B5-40F5-9A84-82C0F7D5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&gt; gridworld_render.py</a:t>
            </a:r>
            <a:br>
              <a:rPr lang="en-US" altLang="ko-KR" dirty="0"/>
            </a:br>
            <a:r>
              <a:rPr lang="ko-KR" altLang="en-US" dirty="0"/>
              <a:t>소스코드가 실행되기 위한 </a:t>
            </a:r>
            <a:r>
              <a:rPr lang="en-US" altLang="ko-KR" dirty="0"/>
              <a:t>common </a:t>
            </a:r>
            <a:r>
              <a:rPr lang="ko-KR" altLang="en-US" dirty="0"/>
              <a:t>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F98BD-7263-4251-BE36-401DDC2D8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GridWorld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시각화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(Rendering)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모듈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 파일의 목적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--------------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GridWorld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환경에서 계산한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가치함수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π(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a|s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사람이 보기 쉬운 형태로 출력하는 도구를 제공합니다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지원 출력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---------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1)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텍스트 출력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터미널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숫자 격자 형태로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출력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(###),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(G),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함정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(T)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표시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2) matplotlib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출력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그림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V(s)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색으로 표현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양수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초록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음수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빨강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0: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노랑 근처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벽은 회색으로 표시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π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있으면 행동 확률에 비례한 화살표를 그림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reward_map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 있는 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비영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非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0)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보상은 오른쪽에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라벨로 표시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주의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----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 설치되어 있지 않거나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GUI backend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없는 환경에서는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텍스트 출력으로 자동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fallback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matplotlib.colors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TwoSlopeNorm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matplotlib.patches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FancyArrowPatch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Rectangle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matplotlib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font_manager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_HAS_MPL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ImportError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_HAS_MPL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Rectangle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font_manager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matplotlib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 폰트는 한글 미지원인 경우가 많아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한 번만 한글 가능 폰트로 맞춤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_MPL_FONT_CONFIGURED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configure_matplotlib_korean_font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"""Windows/macOS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등에서 한글 제목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라벨이 □로 깨지지 않도록 폰트 설정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_MPL_FONT_CONFIGURED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_MPL_FONT_CONFIGURED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_HAS_MPL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_MPL_FONT_CONFIGURED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1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순위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파일 경로로 직접 찾기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가장 확실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Windows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맑은 고딕 우선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sys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_FONT_FILE_CANDIDATES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Windows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0" dirty="0" err="1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"C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:\Windows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\F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onts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\m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algun.ttf"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맑은 고딕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0" dirty="0" err="1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"C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:\Windows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\F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onts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\m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algunbd.ttf"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0" dirty="0" err="1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"C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:\Windows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\F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onts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\g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ulim.ttc"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굴림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0" dirty="0" err="1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"C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:\Windows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\F</a:t>
            </a:r>
            <a:r>
              <a:rPr lang="en-US" altLang="ko-KR" b="0" dirty="0">
                <a:solidFill>
                  <a:srgbClr val="DC322F"/>
                </a:solidFill>
                <a:effectLst/>
                <a:latin typeface="Consolas" panose="020B0609020204030204" pitchFamily="49" charset="0"/>
              </a:rPr>
              <a:t>onts\batang.ttc"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바탕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macOS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"/System/Library/Fonts/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AppleSDGothicNeo.ttc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"/Library/Fonts/NanumGothic.ttf"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Linux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/share/fonts/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truetype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nanum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/NanumGothic.ttf"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/share/fonts/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opentype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noto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NotoSansCJK-Regular.ttc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fpath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_FONT_FILE_CANDIDATES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os.path.exists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fpath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prop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font_manager.FontProperties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fpath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plt.rcParams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font.family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prop.get_name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font_manager.fontManager.addfont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fpath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plt.rcParams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axes.unicode_minus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2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순위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이름으로 찾기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(font cache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기반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names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{f.name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f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font_manager.fontManager.ttflist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candidate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Malgun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Gothic"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NanumGothic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Nanum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Gothic"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Gulim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AppleGothic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"Apple SD Gothic Neo"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"Noto Sans CJK KR"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candidate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names: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plt.rcParams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font.family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candidate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plt.rcParams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axes.unicode_minus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trap_states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reward_map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보상 맵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array,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=object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가능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; None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은 벽에 사용 가능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goal_state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목표 상태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(h, w)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wall_states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 상태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 (h, w)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단일 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또는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set/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frozenset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/list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등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iterable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trap_states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함정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종료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상태들의 집합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없으면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None)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reward_map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goal_state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3x4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는 단일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wall_state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넘기고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5x5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는 여러 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(set)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넘기므로 둘 다 지원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isinstance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frozenset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frozenset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.trap_states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frozenset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trap_states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v_at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v, h, w):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V(s)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조회 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헬퍼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v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으로 간주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v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key=(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h,w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로 조회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v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array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v[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h,w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로 조회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isinstance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v.get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((h, w),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isinstance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np.ndarray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(v[h, w])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pi_prob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policy, state, action):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π(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a|s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조회 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헬퍼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policy[state]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형태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예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{0:0.25,1:0.25,...})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라고 가정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없거나 에러면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으로 간주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policy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d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policy[state]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KeyError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TypeError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isinstance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(d,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d.get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(action,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render_v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self,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v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policy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ax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show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title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draw_colorbar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V(s)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시각화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 matplotlib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사용 가능하고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=True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이면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슬라이드처럼 색상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양수 녹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음수 적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 회색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R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라벨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있으면 화살표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show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ax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 주어졌으면 외부에서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show()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하므로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False,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아니면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show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show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=True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matplotlib import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 성공했을 때만 그림으로 렌더링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_HAS_MPL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render_v_matplotlib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v,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policy,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ax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show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show,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title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title,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draw_colorbar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draw_colorbar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render_v_text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policy,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render_v_text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v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policy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텍스트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터미널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렌더링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###,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G,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함정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=True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면 각 칸에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값을 함께 표시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row_parts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cell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cell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row_parts.append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###  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cell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row_parts.append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G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:5.2f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G   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cell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.trap_states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row_parts.append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T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:5.2f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T   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h, w)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row_parts.append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:7.2f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.   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.join(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row_parts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render_v_matplotlib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v, policy,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ax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show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title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draw_colorbar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matplotlib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렌더링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values: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각 칸의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벽은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TwoSlopeNorm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0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을 중심으로 음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양을 같은 스케일로 표현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RdYlGn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음수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빨강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→ 0(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노랑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양수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초록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policy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있으면 화살표를 그림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확률에 비례해 길이 스케일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configure_matplotlib_korean_font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여러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서브플롯에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넣을 때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(ax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지정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오른쪽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R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라벨이 옆 패널과 겹치지 않도록 칸 안에 표시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reward_labels_outside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values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wall_mask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=bool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wall_mask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[h, w]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values[h, w]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np.nan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values[h, w]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ax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 주어지면 해당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 그립니다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없으면 새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figure/ax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생성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fig, ax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plt.subplots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fig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ax.figure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masked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np.ma.masked_where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wall_mask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np.isnan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(values), values)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색상 스케일을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|V|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의 최댓값에 맞춤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(0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으로 나누기 방지로 최소값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0.01)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np.nanmax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np.abs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(values)),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norm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TwoSlopeNorm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vmin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vcenter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vmax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plt.cm.RdYlGn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ax.imshow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(masked,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cmap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norm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norm, aspect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"equal"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origin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"upper"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 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회색 사각형으로 덧그림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마스킹만으로는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경계가 흐릴 수 있어 강조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ww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ax.add_patch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Rectangle(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ww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facecolor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"#555555"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edgecolor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"black"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linewidth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zorder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각 칸 중앙에 숫자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(V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표시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w,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h,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values[h, w]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:.2f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ha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"center"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"center"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color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"black"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zorder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화살표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행동 인코딩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0=UP, 1=DOWN, 2=LEFT, 3=RIGHT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dirs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그림 좌표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기준 방향 벡터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(x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는 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y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는 행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확률이 클수록 화살표를 길게 그림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policy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dirs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전체 상태 중 최대 확률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max_p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먼저 구해서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각 화살표 길이를 상대적으로 정규화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0.01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.trap_states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p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pi_prob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(policy, state, a)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p)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.trap_states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p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pi_prob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(policy, state, a)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dx,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dirs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[a]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sqrt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완만하게 스케일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확률 차이가 너무 과장되지 않도록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scale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0.22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(p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x0, y0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(w),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(h)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ax.add_patch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FancyArrowPatch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    (x0, y0),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    (x0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dx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scale, y0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scale),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arrowstyle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"-|&gt;"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mutation_scale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    color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"navy"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    linewidth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zorder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ax.set_xticks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np.arange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ax.set_yticks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np.arange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ax.set_xticklabels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([])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ax.set_yticklabels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([])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reward_labels_outside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ax.set_xlim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ax.set_xlim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ax.set_ylim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reward_map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 있는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비영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非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0)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보상 라벨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단독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figure: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격자 오른쪽에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R …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교재 스타일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서브플롯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다열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오른쪽 여백 없이 칸 안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우상단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에만 표시해 옆 패널과 겹침 방지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[h, w]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reward_labels_outside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x_text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0.05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x_text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h,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"R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(GOAL)"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"center"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x_text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h,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"R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"center"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0.42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0.42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"R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:g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G"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ha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"right"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"top"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color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darkgreen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zorder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ax.text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0.42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0.42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"R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:g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ha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"right"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"top"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color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darkred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zorder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draw_colorbar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fig.colorbar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ax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ax, fraction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0.046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pad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label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"V(s)"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title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title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"V(s) and policy"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policy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"V(s)"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ax.set_title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(title)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subplot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 그리는 경우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tight_layout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은 외부에서 호출하는 게 안전하지만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단독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그릴 때는 여기서 한 번 정리해줌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plt.tight_layout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show: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render_q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q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Q(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s,a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텍스트 출력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q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로 주면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key=((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h,w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), action)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형태를 기대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q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ndarray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로 주면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q[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h,w,a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기대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q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q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cell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cell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(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WALL"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parts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isinstance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(q,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qa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q.get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((cell, a),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isinstance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(q,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np.ndarray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q.ndim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qa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(q[h, w, a])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qa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parts.append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"a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qa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:.2f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(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.join(parts))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3741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DC311-31B5-40F5-9A84-82C0F7D5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grideworld5x5.py</a:t>
            </a:r>
            <a:br>
              <a:rPr lang="en-US" altLang="ko-KR" dirty="0"/>
            </a:br>
            <a:r>
              <a:rPr lang="en-US" altLang="ko-KR" dirty="0"/>
              <a:t>Grid world 5</a:t>
            </a:r>
            <a:r>
              <a:rPr lang="ko-KR" altLang="en-US" dirty="0"/>
              <a:t>행</a:t>
            </a:r>
            <a:r>
              <a:rPr lang="en-US" altLang="ko-KR" dirty="0"/>
              <a:t>5</a:t>
            </a:r>
            <a:r>
              <a:rPr lang="ko-KR" altLang="en-US" dirty="0"/>
              <a:t>열을 실행하기 위한 소스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F98BD-7263-4251-BE36-401DDC2D8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Quiz (p.42) — 5x5 Grid World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- Goal(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사과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): (0, 4),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보상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+1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함정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폭탄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): (0, 3), (3, 3),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보상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-1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(2, 1), (2, 2)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시작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(4, 0)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가치 반복 등과 연동할 수 있도록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week3/gridworld.py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와 동일한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API.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 파일은 **환경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(Environment)**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만 정의합니다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에이전트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가치함수 계산은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`policy_iter5x5.py`, `value_iter5x5.py`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에서 수행합니다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좌표는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(h, w) = (row, col)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형식입니다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예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(0,4)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는 첫 행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다섯 번째 열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`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reward_map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`None`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은 벽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이동 불가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을 의미합니다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숫자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예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+1, -1)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는 해당 칸으로 **도착했을 때 받는 보상**입니다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common.gridworld_render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render_helper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GridWorld5x5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행동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(action)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정의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0,1,2,3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각각 상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하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좌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우로 사용합니다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.action_space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.action_meaning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"UP"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"DOWN"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"LEFT"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"RIGHT"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보상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(reward)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맵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기본은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보상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빈 칸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).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=object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두는 이유는 벽을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으로 표시하기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위함입니다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np.zeros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=object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함정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폭탄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도착 보상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-1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사과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도착 보상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+1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이동 불가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보상값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자체가 중요한 게 아니라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통과 불가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표시로 씁니다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주요 상태들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frozenset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.trap_states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frozenset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.start_state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에이전트의 현재 상태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(step/reset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에서 사용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.agent_state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.start_state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property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terminal_states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함정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—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반복 정책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가치 평가 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V=0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으로 두는 상태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frozenset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.trap_states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property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.reward_map.shape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property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.reward_map.shape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property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.reward_map.shape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actions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가능한 행동 리스트 반환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(0,1,2,3)."""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.action_space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모든 격자 좌표를 순회하는 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제너레이터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(0,0)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부터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(4,4)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까지 순서대로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yield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함정도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상태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로는 포함됩니다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 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알고리즘에서 제외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고정 처리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w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(h, w)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state, action):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상태 전이 함수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s' = f(s, a)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행동에 따라 다음 좌표를 계산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경계 밖으로 나가거나 벽이면 제자리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(state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유지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action_move_map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[(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move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action_move_map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[action]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(state[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move[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], state[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move[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격자 밖이면 이동 무효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벽이면 이동 무효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reward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state, action,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보상 함수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r(s, a, s')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 환경은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도착한 칸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)'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reward_map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값을 보상으로 사용합니다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(None)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은 실제로는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될 수 없지만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안전하게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0.0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처리합니다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(r)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is_terminal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state):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종료 상태 여부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(goal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또는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trap)."""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.terminal_states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에피소드 시작 상태로 리셋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Returns: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start_state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.agent_state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.start_state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.agent_state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action):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환경을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스텝 진행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    action: 0~3 (UP/DOWN/LEFT/RIGHT)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Returns: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reward, done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.agent_state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reward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done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.is_terminal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.agent_state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reward, done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render_v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v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policy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5x5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에서도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3x4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와 동일한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render API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제공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=True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matplotlib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기반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색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화살표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렌더링 시도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matplotlib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 없으면 텍스트 출력으로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fallback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  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renderer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render_helper.Renderer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trap_states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.trap_states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renderer.render_v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policy,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render_q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(self, q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renderer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render_helper.Renderer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.reward_map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trap_states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.trap_states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renderer.render_q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(q,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print_value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이전 텍스트 렌더링용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v_lookup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은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common renderer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 대체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__name__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collections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defaultdict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value_iter5x5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greedy_policy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value_iter_onestep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env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GridWorld5x5()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gamma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0.9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"start:"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env.reset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s, r, d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env.step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"RIGHT:"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s, r, d)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"shape:"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env.shape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"goal"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env.goal_state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"walls"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Value Iteration: Bellman optimal backup 5 steps — one window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--- Value Iteration demo (5 steps) ---"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V[state]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snapshots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k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value_iter_onestep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gamma)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pi_k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greedy_policy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gamma)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snapshots.append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"Value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step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V.copy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pi_k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"Demo: 5 steps shown. Run value_iter5x5.py for full convergence."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(snapshots)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np.ceil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fig, axes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plt.subplots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4.6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constrained_layout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axes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[axes]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axes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axes.flatten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(name,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(snapshots):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ax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axes[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env.render_v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ax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show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title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name,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draw_colorbar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(axes)):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axes[j].axis(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"off"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117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DC311-31B5-40F5-9A84-82C0F7D5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policy_iter5x5.py</a:t>
            </a:r>
            <a:br>
              <a:rPr lang="en-US" altLang="ko-KR" dirty="0"/>
            </a:br>
            <a:r>
              <a:rPr lang="ko-KR" altLang="en-US" dirty="0"/>
              <a:t>정책에 대한 소스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F98BD-7263-4251-BE36-401DDC2D8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실습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(Quiz p.42): 5x5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GridWorld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— Policy Iteration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Policy Iteration(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반복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5x5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GridWorld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에서 최적 정책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μ*(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와 최적 가치함수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v*(s)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구한다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반복은 크게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단계를 번갈아 수행합니다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1) Policy Evaluation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평가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 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현재 정책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고정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되어 있다고 가정하고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그 정책의 가치함수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V^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계산합니다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 - Bellman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기대 방정식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(Expectation Bellman equation)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반복 적용하여 수렴시킵니다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2) Policy Improvement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개선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 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계산된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V^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이용해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1-step lookahead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더 좋은 행동을 선택하는 탐욕적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(greedy)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π'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만듭니다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 -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π'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와 같아지면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더 이상 개선이 없으면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최적 정책에 도달한 것으로 보고 종료합니다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 파일은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"5x5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환경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 맞춘 구현이며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환경 정의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`gridworld5x5.py`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시각화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`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env.render_v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(V, pi,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=True)` (matplotlib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색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화살표 출력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사용합니다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collections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defaultdict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gridworld5x5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GridWorld5x5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argmax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(d):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딕셔너리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최대인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key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반환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동률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(tie)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마지막으로 등장한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key"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선택합니다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슬라이드 예제 코드의 동작과 동일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d.values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max_key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key, value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d.items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value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max_key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key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max_key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eval_onestep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(pi, V, env, gamma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주어졌을 때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모든 상태를 한 번 훑으며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회 갱신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Bellman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기대 방정식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V(s) &lt;-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Σ_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 pi(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a|s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[ r(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s,a,s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') +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γ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V(s') ]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모든 상태 순회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함정 포함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---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중요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업데이트에서 제외할 상태들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---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1)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실제로 에이전트가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위치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할 수 없도록 설계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이동하면 제자리 유지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     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가치 업데이트 의미가 없으므로 건너뜁니다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2) terminal(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함정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에피소드가 끝나는 상태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 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많은 교재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실습에서는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terminal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으로 두고 업데이트하지 않습니다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env.is_terminal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V[state]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π(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a|s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): state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선택할 확률 분포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pi[state]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새로운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V(s)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만들기 위해 누적할 변수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기대값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--- Bellman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기대 방정식의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Σ_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부분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---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각 행동의 확률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action_prob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다음 상태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보상을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가중합합니다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action,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action_probs.items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env.reward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(r +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γ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V(s'))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π(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a|s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가중합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gamma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V[state]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new_V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policy_eval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(pi, V, env, gamma, 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 평가 반복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delta =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max_s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|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V_new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(s) 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V_old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(s)|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threshold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미만이면 종료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반복적으로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1-step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업데이트를 수행하며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V^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수렴시킵니다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old_V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V.copy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수렴 판정을 위해 이전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저장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eval_onestep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(pi, V, env, gamma)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한 번 훑으며 업데이트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delta =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max_s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|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V_new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(s) -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V_old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(s)|  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최대 변화량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delta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t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old_V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[state])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delta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threshold: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greedy_policy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gamma):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현재 가치함수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 대해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1-step lookahead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로 탐욕적 정책 생성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pi(s) =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argmax_a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[ r(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s,a,s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') +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γ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V(s') ]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π'(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만들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딕셔너리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종료 상태는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행동을 선택할 필요가 없는 상태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취급합니다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화살표 표시에서도 제외되도록 확률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으로 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env.is_terminal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pi[state]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[a] = Q(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s,a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비슷한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1-step lookahead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값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action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env.actions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env.reward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1-step lookahead: r +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γ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V(s')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[action]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gamma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가장 큰 값을 주는 행동 선택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max_action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argmax(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결정적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(deterministic)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최적 행동은 확률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1,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나머지는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max_action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pi[state]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action_probs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pi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pick_snapshot_indices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시각화할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스냅샷 인덱스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최소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가능할 때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균등 간격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sorted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policy_iter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(env, gamma, 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is_render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 반복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평가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V &lt;-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V^pi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개선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 pi &lt;- greedy(V)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정책이 더 이상 변하지 않으면 종료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초기 정책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모든 상태에서 균등 무작위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종료 상태는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eval_onestep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greedy_policy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에서 별도로 처리하므로 여기서는 동일하게 둬도 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스냅샷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여러 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한 창에 모아 그리기 위해 저장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snapshots = [(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policy_name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V_snapshot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pi_snapshot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), ...]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snapshots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(0)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시작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무작위 정책 평가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policy_eval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(pi, V, env, gamma, threshold)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snapshots.append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"start (random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π)"</a:t>
            </a:r>
            <a:r>
              <a:rPr lang="el-GR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V.copy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(pi)))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k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개선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 &lt;-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greedy(V)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new_pi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greedy_policy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gamma)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평가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 V &lt;- V^{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new_pi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개선된 정책을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고정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한다고 가정하고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그 정책의 가치함수로 다시 수렴시킵니다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policy_eval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new_pi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V, env, gamma, threshold)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k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snapshots.append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"iter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V.copy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new_pi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정책이 더 이상 변하지 않으면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안정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policy stable)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종료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new_pi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pi: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pi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new_pi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pi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new_pi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render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는 여기서 하지 않고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호출자가 한 창에 모아 그리도록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snapshots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도 함께 반환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pi, V, snapshots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__name__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============================================================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하이퍼파라미터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비교 실행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결과를 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아래 세 줄로 표시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┌────────────────────────┬────────┬─────────────┐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│                        │ gamma  │  threshold  │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├────────────────────────┼────────┼─────────────┤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│ [Default]              │  0.9   │   0.001     │ ←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│ [gamma only]  (*)      │  0.99  │   0.001     │ ← gamma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만 변경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│ [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gamma+threshold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] (**) │  0.99  │   1e-6      │ ←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둘 다 변경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└────────────────────────┴────────┴─────────────┘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1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vs 2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gamma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변경 효과만 격리해서 확인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2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vs 3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threshold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변경 효과만 격리해서 확인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           (V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크기는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비슷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수렴 정밀도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사이클 수가 달라짐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gamma     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할인율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높을수록 먼 미래 보상을 더 중시 →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크기 변화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threshold 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수렴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임계값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낮을수록 더 정밀하게 수렴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평가 반복↑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속도↓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============================================================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label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"[Default]            gamma=0.9,  threshold=0.001"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gamma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label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"[gamma only] (*)     gamma=0.99, threshold=0.001"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gamma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0.99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 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(*)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변경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0.9 → 0.99  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먼 미래 보상 더 반영 →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크기↑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 유지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label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gamma+threshold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](**) gamma=0.99, threshold=1e-6"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gamma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0.99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 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(*)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동일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1e-6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(**)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변경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0.001 → 1e-6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더 정밀한 수렴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반복↑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all_rows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env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GridWorld5x5()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pi, V, snapshots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policy_iter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env,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"gamma"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], 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"threshold"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pick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pick_snapshot_indices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(snapshots),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show_snaps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[snapshots[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pick]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\n{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'label'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=&gt;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총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(snapshots)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개 평가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개선 사이클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all_rows.append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show_snaps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env))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3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x 5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열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figure: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=Default /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=gamma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만 변경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아래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둘 다 변경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fig, axes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plt.subplots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4.6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5.4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constrained_layout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show_snaps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env)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all_rows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row_axes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axes[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show_snaps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ax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row_axes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name,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show_snaps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name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각 행의 첫 번째 패널 제목에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config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정보 표시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'label'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}\n{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panel_title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env.render_v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ax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show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title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draw_colorbar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ax.axis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"off"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plt.suptitle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"Policy Iteration — Hyperparameter Comparison"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fontweight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"bold"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715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F9380EC-9EBA-43A4-B7A8-4824F4899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" y="119486"/>
            <a:ext cx="11827933" cy="635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2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DC311-31B5-40F5-9A84-82C0F7D5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value_iter5x5.py</a:t>
            </a:r>
            <a:br>
              <a:rPr lang="en-US" altLang="ko-KR" dirty="0"/>
            </a:br>
            <a:r>
              <a:rPr lang="ko-KR" altLang="en-US" dirty="0"/>
              <a:t>위치 </a:t>
            </a:r>
            <a:r>
              <a:rPr lang="en-US" altLang="ko-KR" dirty="0"/>
              <a:t>value</a:t>
            </a:r>
            <a:r>
              <a:rPr lang="ko-KR" altLang="en-US" dirty="0"/>
              <a:t>에 대한 소스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F98BD-7263-4251-BE36-401DDC2D8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실습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(Quiz p.42): 5x5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GridWorld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— Value Iteration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Value Iteration(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가치 반복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?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목표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최적 가치함수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V*(s)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와 최적 정책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π*(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구한다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가치 반복은 다음을 반복합니다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V_{k+1}(s) =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max_a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[ r(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s,a,s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') +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γ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V_k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(s') ]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반복과 비교하면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정책 반복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평가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수렴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)" ↔ 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개선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번갈아 수행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가치 반복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최적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Bellman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백업을 계속 수행하여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V*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직접 수렴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V*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얻은 뒤에는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마지막에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greedy_policy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(V*)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</a:t>
            </a:r>
            <a:r>
              <a:rPr lang="el-GR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π*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구성합니다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collections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defaultdict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gridworld5x5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GridWorld5x5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argmax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(d):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딕셔너리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최대인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key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반환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동률이면 마지막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선택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슬라이드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예제 코드 스타일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d.values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max_key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key, value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d.items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value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max_key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key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max_key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greedy_policy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gamma):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가치함수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 대한 탐욕적 정책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(1-step lookahead).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각 상태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에서 다음을 최대화하는 행동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고릅니다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a* =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argmax_a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[ r(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s,a,s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') +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γ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V(s') ]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그리고 결정적 정책으로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π(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a*|s)=1,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나머지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로 구성합니다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종료 상태는 정책이 의미 없으므로 확률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으로 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화살표도 그리지 않음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env.is_terminal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pi[state]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행동별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1-step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가치 계산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action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env.actions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env.reward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[action]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gamma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최대 행동 선택 후 결정적 정책으로 구성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max_action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argmax(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max_action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pi[state]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action_probs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pi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value_iter_onestep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gamma):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가치 반복의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1-step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갱신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Bellman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최적 방정식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V(s) &lt;-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max_a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[ r(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s,a,s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') + 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γ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V(s') ]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중요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종료 상태 처리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실제 위치가 아니므로 업데이트 불필요 →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skip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종료 상태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(goal/trap): V=0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으로 고정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업데이트하지 않음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env.wall_states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env.is_terminal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V[state]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Bellman optimal backup: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모든 행동을 평가해서 최대를 취함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action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env.actions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env.reward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(state, action,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이 환경은 확률적 전이가 없으므로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결정적 전이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),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action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취했을 때의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1-step return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을 그대로 사용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(r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gamma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next_state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max_a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(...)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로 업데이트 →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최적 행동을 한다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고 가정한 가치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action_values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pick_snapshot_indices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시각화할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스냅샷 인덱스 선택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이하면 전부 사용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그보다 크면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0..n-1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을 균등 간격으로 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개 선택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시작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끝 포함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sorted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n_snapshots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value_iter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gamma, 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is_render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가치 반복 메인 루프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매 반복마다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를 갱신하고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최대 변화량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(delta)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로 수렴을 판단한다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스냅샷을 모아서 한 창에 그리기 위한 리스트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모든 스텝을 저장한 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시각화 시 최소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패널이 되도록 균등 간격으로 고릅니다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snapshots_all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= [(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iter_idx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V_copy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), ...]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-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iter_idx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=0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은 시작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(V=0)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snapshots_all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V.copy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iter_idx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old_V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V.copy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수렴 판정용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value_iter_onestep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gamma)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한 번 훑으며 최적 백업 적용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iter_idx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모든 반복의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를 저장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(5x5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는 상태 수가 작아 메모리 부담이 거의 없음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snapshots_all.append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iter_idx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V.copy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()))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delta =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max_s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|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V_new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(s) -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V_old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(s)|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계산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delta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env.states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t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(V[state]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old_V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[state])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delta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임계값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(threshold)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보다 변화가 작으면 수렴으로 판단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threshold: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최소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개 패널이 나오도록 균등 간격으로 선택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스냅샷 개수가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미만이면 전부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snapshots_all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pick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pick_snapshot_indices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min_panels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최종 반환용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[(name, 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V_snapshot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), ...]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snapshots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pick: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it,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snapshots_all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name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"start (V=0)"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name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"final (V*)"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name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dirty="0" err="1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"mid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)"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snapshots.append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((name,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V, snapshots,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iter_idx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__name__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============================================================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하이퍼파라미터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비교 실행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결과를 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아래 세 줄로 표시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┌────────────────────────┬────────┬─────────────┐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│                        │ gamma  │  threshold  │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├────────────────────────┼────────┼─────────────┤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│ [Default]              │  0.9   │   0.001     │ ←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│ [gamma only]  (*)      │  0.99  │   0.001     │ ← gamma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만 변경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│ [</a:t>
            </a:r>
            <a:r>
              <a:rPr lang="en-US" altLang="ko-KR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gamma+threshold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] (**) │  0.99  │   1e-6      │ ←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둘 다 변경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└────────────────────────┴────────┴─────────────┘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1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vs 2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gamma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변경 효과만 격리해서 확인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2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vs 3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threshold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변경 효과만 격리해서 확인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             (V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크기는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비슷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수렴 정밀도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·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반복 횟수가 달라짐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gamma     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할인율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높을수록 먼 미래 보상을 더 중시 →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크기 변화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threshold 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수렴 </a:t>
            </a:r>
            <a:r>
              <a:rPr lang="ko-KR" alt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임계값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낮을수록 더 정밀하게 수렴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반복 횟수↑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속도↓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).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============================================================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label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"[Default]            gamma=0.9,  threshold=0.001"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gamma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label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"[gamma only] (*)     gamma=0.99, threshold=0.001"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gamma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0.99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 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(*)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변경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0.9 → 0.99  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먼 미래 보상 더 반영 →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V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크기↑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기본값 유지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label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altLang="ko-KR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gamma+threshold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](**) gamma=0.99, threshold=1e-6"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gamma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0.99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  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(*)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동일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1e-6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     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(**)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변경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: 0.001 → 1e-6 (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더 정밀한 수렴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반복↑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all_rows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env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GridWorld5x5()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V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V, snapshots,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total_iters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value_iter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V, env,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"gamma"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], threshold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"threshold"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pi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greedy_policy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(V, env,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"gamma"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\n{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'label'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  =&gt;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총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total_iters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회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Bellman </a:t>
            </a:r>
            <a:r>
              <a:rPr lang="ko-KR" alt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백업 후 수렴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all_rows.append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snapshots, pi, env))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3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행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x 5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열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figure: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위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=Default /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중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=gamma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만 변경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아래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둘 다 변경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==========================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fig, axes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plt.subplots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4.6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5.4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constrained_layout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snapshots, pi, env)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all_rows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row_axes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axes[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(snapshots)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N_COLS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ax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row_axes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panel_name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snapshots[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is_last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policy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pi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is_last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"final (V*)+</a:t>
            </a:r>
            <a:r>
              <a:rPr lang="el-GR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π*"</a:t>
            </a:r>
            <a:r>
              <a:rPr lang="el-GR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is_last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panel_name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각 행의 첫 번째 패널 제목에 </a:t>
            </a:r>
            <a:r>
              <a:rPr lang="en-US" altLang="ko-KR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config </a:t>
            </a:r>
            <a:r>
              <a:rPr lang="ko-KR" alt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정보 표시</a:t>
            </a:r>
            <a:endParaRPr lang="ko-KR" alt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col_i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586E7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'label'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}\n{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panel_title</a:t>
            </a:r>
            <a:r>
              <a:rPr lang="en-US" altLang="ko-KR" b="0" dirty="0">
                <a:solidFill>
                  <a:srgbClr val="CB4B1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env.render_v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V_snap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policy,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use_matplotlib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ax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show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title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panel_title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draw_colorbar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89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ax.axis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"off"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plt.suptitle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"Value Iteration — Hyperparameter Comparison"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fontweight</a:t>
            </a:r>
            <a:r>
              <a:rPr lang="en-US" altLang="ko-KR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"bold"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23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EF6D3B4-75DE-44D9-B700-FEED522A5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1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9DE59-1E9A-400C-AC33-B5558596E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/>
              <a:t>policy, value </a:t>
            </a:r>
            <a:r>
              <a:rPr lang="en-US" altLang="ko-KR" sz="3000" dirty="0" err="1"/>
              <a:t>iter</a:t>
            </a:r>
            <a:r>
              <a:rPr lang="en-US" altLang="ko-KR" sz="3000" dirty="0"/>
              <a:t> </a:t>
            </a:r>
            <a:r>
              <a:rPr lang="ko-KR" altLang="en-US" sz="3000" dirty="0"/>
              <a:t>값의 </a:t>
            </a:r>
            <a:r>
              <a:rPr lang="ko-KR" altLang="en-US" sz="3000" dirty="0" err="1"/>
              <a:t>하이퍼</a:t>
            </a:r>
            <a:r>
              <a:rPr lang="ko-KR" altLang="en-US" sz="3000" dirty="0"/>
              <a:t> 파라미터 변경에 따른 고찰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CEF482-9B27-4B60-A718-B01E995EC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1. gamma(</a:t>
            </a:r>
            <a:r>
              <a:rPr lang="ko-KR" altLang="en-US" dirty="0"/>
              <a:t>미래보상</a:t>
            </a:r>
            <a:r>
              <a:rPr lang="en-US" altLang="ko-KR" dirty="0"/>
              <a:t>) </a:t>
            </a:r>
            <a:r>
              <a:rPr lang="ko-KR" altLang="en-US" dirty="0"/>
              <a:t>영향을 크게 정할 경우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- 0.9</a:t>
            </a:r>
            <a:r>
              <a:rPr lang="ko-KR" altLang="en-US" dirty="0"/>
              <a:t>에서 </a:t>
            </a:r>
            <a:r>
              <a:rPr lang="en-US" altLang="ko-KR" dirty="0"/>
              <a:t>0.99</a:t>
            </a:r>
            <a:r>
              <a:rPr lang="ko-KR" altLang="en-US" dirty="0"/>
              <a:t>로 올리면 미래에 대한 가치를 더 많이 반영하게 되어서 장기적으로 볼 때에 나은 경로를 더 자주 고르게 되는 것을 알 수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threshold </a:t>
            </a:r>
            <a:r>
              <a:rPr lang="ko-KR" altLang="en-US" dirty="0"/>
              <a:t>값을 작게 정할 경우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- 0.001</a:t>
            </a:r>
            <a:r>
              <a:rPr lang="ko-KR" altLang="en-US" dirty="0"/>
              <a:t>에서 </a:t>
            </a:r>
            <a:r>
              <a:rPr lang="en-US" altLang="ko-KR" dirty="0"/>
              <a:t>1e-6(0.000001)</a:t>
            </a:r>
            <a:r>
              <a:rPr lang="ko-KR" altLang="en-US" dirty="0"/>
              <a:t>으로 작게 잡을 경우 더 많은 진행이 되고 오차는 줄어드는 방향으로 </a:t>
            </a:r>
            <a:r>
              <a:rPr lang="ko-KR" altLang="en-US" dirty="0" err="1"/>
              <a:t>될것으로</a:t>
            </a:r>
            <a:r>
              <a:rPr lang="ko-KR" altLang="en-US" dirty="0"/>
              <a:t> 예상하지만 해당 </a:t>
            </a:r>
            <a:r>
              <a:rPr lang="en-US" altLang="ko-KR" dirty="0"/>
              <a:t>5x5</a:t>
            </a:r>
            <a:r>
              <a:rPr lang="ko-KR" altLang="en-US" dirty="0"/>
              <a:t>는 소수점 </a:t>
            </a:r>
            <a:r>
              <a:rPr lang="en-US" altLang="ko-KR" dirty="0"/>
              <a:t>2</a:t>
            </a:r>
            <a:r>
              <a:rPr lang="ko-KR" altLang="en-US" dirty="0" err="1"/>
              <a:t>자리까지만</a:t>
            </a:r>
            <a:r>
              <a:rPr lang="ko-KR" altLang="en-US" dirty="0"/>
              <a:t> 표현이 되어서 크게 차이가 없었습니다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44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18185</Words>
  <Application>Microsoft Office PowerPoint</Application>
  <PresentationFormat>와이드스크린</PresentationFormat>
  <Paragraphs>1046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Consolas</vt:lpstr>
      <vt:lpstr>Office 테마</vt:lpstr>
      <vt:lpstr>HW-3주차</vt:lpstr>
      <vt:lpstr>common &gt; gridworld_render.py 소스코드가 실행되기 위한 common 파일</vt:lpstr>
      <vt:lpstr>grideworld5x5.py Grid world 5행5열을 실행하기 위한 소스</vt:lpstr>
      <vt:lpstr>policy_iter5x5.py 정책에 대한 소스</vt:lpstr>
      <vt:lpstr>PowerPoint 프레젠테이션</vt:lpstr>
      <vt:lpstr>value_iter5x5.py 위치 value에 대한 소스</vt:lpstr>
      <vt:lpstr>PowerPoint 프레젠테이션</vt:lpstr>
      <vt:lpstr>policy, value iter 값의 하이퍼 파라미터 변경에 따른 고찰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김완수</dc:creator>
  <cp:lastModifiedBy>김완수</cp:lastModifiedBy>
  <cp:revision>2</cp:revision>
  <dcterms:created xsi:type="dcterms:W3CDTF">2026-03-30T04:02:10Z</dcterms:created>
  <dcterms:modified xsi:type="dcterms:W3CDTF">2026-03-30T04:13:32Z</dcterms:modified>
</cp:coreProperties>
</file>